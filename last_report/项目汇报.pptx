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06" r:id="rId2"/>
    <p:sldId id="332" r:id="rId3"/>
    <p:sldId id="333" r:id="rId4"/>
    <p:sldId id="307" r:id="rId5"/>
    <p:sldId id="316" r:id="rId6"/>
    <p:sldId id="334" r:id="rId7"/>
    <p:sldId id="335" r:id="rId8"/>
    <p:sldId id="321" r:id="rId9"/>
    <p:sldId id="336" r:id="rId10"/>
    <p:sldId id="337" r:id="rId11"/>
    <p:sldId id="330" r:id="rId12"/>
    <p:sldId id="331" r:id="rId13"/>
    <p:sldId id="338" r:id="rId14"/>
    <p:sldId id="339" r:id="rId15"/>
    <p:sldId id="340" r:id="rId16"/>
    <p:sldId id="341" r:id="rId17"/>
    <p:sldId id="342" r:id="rId18"/>
    <p:sldId id="343" r:id="rId19"/>
  </p:sldIdLst>
  <p:sldSz cx="9144000" cy="5143500" type="screen16x9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4C9AE"/>
    <a:srgbClr val="9966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03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1" d="100"/>
          <a:sy n="61" d="100"/>
        </p:scale>
        <p:origin x="-321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CDB1E-9234-4DE3-B1B0-A3145D9229B4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A8746-F1BF-4756-BE87-F7DCC251CE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B67F-1083-30AC-87FB-67C15B9D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015837-FE59-EC18-339E-47BA2B48E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07B441-6512-CAE7-0184-62DD8915A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训练营前期我先通过爬虫实验观察不同并发模型在吞吐、延迟和内存上的差异；随后通过 Future Executor 和绿色线程实验理解执行流的暂停、恢复和调度；最后将这些认识应用到 StarryOS 内核，实现了 io_uring 异步 I/O 子系统。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EDEEAA-C05F-EB02-0C6B-D2B74ABEA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04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F3775-8097-2D09-13E8-590DE1C5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DDC48B-136D-055C-07BC-B4D84A077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2E127A-4E8C-23D3-347C-DB5DA7B6E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训练营前期我先通过爬虫实验观察不同并发模型在吞吐、延迟和内存上的差异；随后通过 Future Executor 和绿色线程实验理解执行流的暂停、恢复和调度；最后将这些认识应用到 StarryOS 内核，实现了 io_uring 异步 I/O 子系统。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65852C-27CE-90D4-F10D-A796C3234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982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D252B-E5CB-E3C7-4E9D-9024FC42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E87517-A7AF-B585-83D0-932C7DE1C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C9F6F7-CA51-8308-3242-930A75FD5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08D00E-A479-E6C8-5917-1455B5EED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245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整个系统分成用户态接口、系统调用层、ring 管理、提交解析、全局队列、worker、OpFuture、FileLike 驱动适配和 CQE 返回几个层次。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078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34E5-8EEF-C594-7664-6D527287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77825C-9D97-F754-B0D9-0E659B988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CE1F3E-F985-7755-9564-8ACE58F9E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这三个 syscall 对齐 Linux io_uring 的基本 ABI。用户态程序可以通过 ring fd 和 mmap 得到共享 ring，之后主要通过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io_uring_enter</a:t>
            </a:r>
            <a:r>
              <a:rPr lang="zh-CN" altLang="zh-CN" dirty="0"/>
              <a:t> 提交和等待。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2FF50F-6D06-B88B-F7A2-B9B72E720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803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10849-4A6A-E80B-BDE4-C00F52F19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ABF5B9-F368-C679-3EF9-3D51D0257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B3CFAD-FBB6-94A2-172E-4D501DA6F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ED09D2-460A-0C2A-A70C-E7146977C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552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A069-FC6F-A4C1-3581-7C2119715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D05297-C72F-2D7F-80F4-F07BF0BFD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A3FA69-68A7-7135-92A4-D30252918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99370-FDAF-0DE7-BA52-31BA3A847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68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E8B3-23D9-0CDB-3AD0-B99BC1E44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36651D-F1BC-342F-666C-7164A3079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147E2D-E8E8-4710-5C8E-FDB701398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354D39-ACF9-6023-964F-4CDE7106BD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182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F8CEE-04D3-5D26-9A6E-FE11FF788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FB2AEC-B67A-BF05-51F4-2C366ED97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8638B8-D807-B8C6-FCC4-7F675E114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C411C3-66BA-BE65-343F-76A517E23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945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6FE6D-936B-0D4F-2D79-9613AE7C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65F0B9-2235-9BEF-8EE6-5AB6D7375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7725E2-7263-19EC-D092-E41DA45C0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CD649F-FABF-88DE-877C-51DE8A2AF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221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1482-14F2-4B86-EA2D-6145D6C2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107489-8EC8-EB1B-7C2B-7F682FA9D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45D107-5CC8-548B-97DD-3D40563BE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41DE11-4D0E-2816-1249-A80E11E51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143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C66A5-2416-B7FC-159D-0CC18AF9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2FD96C-FC25-8AAC-834B-E692CB93D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C089BB-B800-8CA9-B005-C46B8F467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E9A0A-54AB-C7C2-6534-57E8E9E41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471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18C8A-E73C-8520-9A16-0995CDCB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D9BE18-4FFD-06CD-F1EB-CD917ECC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A8EFB5-2FAE-FD9C-65CB-19DDB993A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8E95B-42FB-B9F9-B2BD-416902345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301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34089" y="1608931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07704" y="3651870"/>
            <a:ext cx="201622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cs typeface="+mn-ea"/>
              </a:rPr>
              <a:t>汇报人：魏永峰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06097" y="165539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异步操作系统训练营项目汇报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502427" y="566673"/>
            <a:ext cx="8139146" cy="4010154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1320314" y="2108201"/>
            <a:ext cx="62760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err="1">
                <a:latin typeface="+mn-ea"/>
                <a:cs typeface="+mn-ea"/>
              </a:rPr>
              <a:t>StarryOS</a:t>
            </a:r>
            <a:r>
              <a:rPr lang="en-US" altLang="zh-CN" sz="3200" b="1" dirty="0">
                <a:latin typeface="+mn-ea"/>
                <a:cs typeface="+mn-ea"/>
              </a:rPr>
              <a:t> </a:t>
            </a:r>
            <a:r>
              <a:rPr lang="zh-CN" altLang="en-US" sz="3200" b="1" dirty="0">
                <a:latin typeface="+mn-ea"/>
                <a:cs typeface="+mn-ea"/>
              </a:rPr>
              <a:t>上 </a:t>
            </a:r>
            <a:r>
              <a:rPr lang="en-US" altLang="zh-CN" sz="3200" b="1" dirty="0" err="1">
                <a:latin typeface="+mn-ea"/>
                <a:cs typeface="+mn-ea"/>
              </a:rPr>
              <a:t>io_uring</a:t>
            </a:r>
            <a:r>
              <a:rPr lang="en-US" altLang="zh-CN" sz="3200" b="1" dirty="0">
                <a:latin typeface="+mn-ea"/>
                <a:cs typeface="+mn-ea"/>
              </a:rPr>
              <a:t> </a:t>
            </a:r>
          </a:p>
          <a:p>
            <a:pPr algn="ctr"/>
            <a:r>
              <a:rPr lang="zh-CN" altLang="en-US" sz="3200" b="1" dirty="0">
                <a:latin typeface="+mn-ea"/>
                <a:cs typeface="+mn-ea"/>
              </a:rPr>
              <a:t>异步 </a:t>
            </a:r>
            <a:r>
              <a:rPr lang="en-US" altLang="zh-CN" sz="3200" b="1" dirty="0">
                <a:latin typeface="+mn-ea"/>
                <a:cs typeface="+mn-ea"/>
              </a:rPr>
              <a:t>I/O </a:t>
            </a:r>
            <a:r>
              <a:rPr lang="zh-CN" altLang="en-US" sz="3200" b="1" dirty="0">
                <a:latin typeface="+mn-ea"/>
                <a:cs typeface="+mn-ea"/>
              </a:rPr>
              <a:t>子系统的设计与实现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6045-BD54-11A0-0459-00422726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5544651-E1D2-C264-CA23-6C600C110CB9}"/>
              </a:ext>
            </a:extLst>
          </p:cNvPr>
          <p:cNvGrpSpPr/>
          <p:nvPr/>
        </p:nvGrpSpPr>
        <p:grpSpPr>
          <a:xfrm>
            <a:off x="-47904" y="0"/>
            <a:ext cx="2531671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C632C76-E27C-E2D9-C860-90B0459713B0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84F5D5CE-4AC4-1AB4-4608-61BAD08C014D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1C5A9C1F-5DA6-B1A8-B2D2-0894697AB2E3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6BA7B0F-AB63-B220-AAAE-57BA19741510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8A9BEFAC-C46D-12C9-E451-4BDAE980510D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06FE647F-942C-3C08-C78C-391EA3543718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DEAA527C-93C8-4F46-B9B8-F0B44FFD4F39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FC13055-3AF6-1E85-9174-D3B484A35C2A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/>
                <a:t>训练营学习主线</a:t>
              </a:r>
              <a:endParaRPr lang="zh-CN" altLang="en-US" sz="1600" b="1" dirty="0">
                <a:cs typeface="+mn-ea"/>
              </a:endParaRPr>
            </a:p>
          </p:txBody>
        </p:sp>
      </p:grp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B4EE6B81-2690-7DE6-3CB8-95A175952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846652"/>
              </p:ext>
            </p:extLst>
          </p:nvPr>
        </p:nvGraphicFramePr>
        <p:xfrm>
          <a:off x="539552" y="1347614"/>
          <a:ext cx="8229600" cy="280831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5540895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2530723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42241236"/>
                    </a:ext>
                  </a:extLst>
                </a:gridCol>
              </a:tblGrid>
              <a:tr h="449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阶段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学习内容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对最终项目的帮助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39144"/>
                  </a:ext>
                </a:extLst>
              </a:tr>
              <a:tr h="786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并发模型实验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进程、线程、协程爬虫性能对比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理解</a:t>
                      </a:r>
                      <a:r>
                        <a:rPr lang="zh-CN" altLang="en-US" dirty="0"/>
                        <a:t>用户态</a:t>
                      </a:r>
                      <a:r>
                        <a:rPr lang="zh-CN" dirty="0"/>
                        <a:t>高并发 I/O 下资源开销差异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65375"/>
                  </a:ext>
                </a:extLst>
              </a:tr>
              <a:tr h="786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执行流机制研究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Future、Waker、Executor、绿色线程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理解异步任务如何挂起与恢复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319089"/>
                  </a:ext>
                </a:extLst>
              </a:tr>
              <a:tr h="786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内核项目实践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StarryOS io_uring 子系统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将异步调度思想落地到内核 I/O 路径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857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51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19BB4-51BF-164D-0522-1FE988DA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87C8BB3-6DA0-D38B-FFD6-226DFEDD112A}"/>
              </a:ext>
            </a:extLst>
          </p:cNvPr>
          <p:cNvGrpSpPr/>
          <p:nvPr/>
        </p:nvGrpSpPr>
        <p:grpSpPr>
          <a:xfrm>
            <a:off x="-47904" y="0"/>
            <a:ext cx="353978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F2DE41C-8EAF-C8DB-24F0-C397DF5C702B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16A17ECD-FD8E-93EB-B1D6-C33C63ABEC4C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1FCFBE42-233E-2F43-08CB-33D23CD884E8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2FA487FD-5523-BDE0-41B2-130E5154D392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7BEA8549-8789-FBAB-3E71-9ACD654A1669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4724FDA0-54F7-6670-1082-7E8705908CB1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733443FA-4A9C-3A3E-5E41-7EEEF4A370D2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CC0CEF4-4A43-FBFF-9308-2A3730650761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/>
                <a:t>StarryOS io_uring</a:t>
              </a:r>
              <a:r>
                <a:rPr lang="en-US" altLang="zh-CN" sz="1600" dirty="0"/>
                <a:t> </a:t>
              </a:r>
              <a:r>
                <a:rPr lang="zh-CN" altLang="en-US" sz="1600" dirty="0"/>
                <a:t>成果</a:t>
              </a:r>
              <a:endParaRPr lang="zh-CN" altLang="en-US" sz="1600" b="1" dirty="0">
                <a:cs typeface="+mn-ea"/>
              </a:endParaRPr>
            </a:p>
          </p:txBody>
        </p:sp>
      </p:grp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F374839-661A-5ECF-46C7-50538E7DB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352682"/>
              </p:ext>
            </p:extLst>
          </p:nvPr>
        </p:nvGraphicFramePr>
        <p:xfrm>
          <a:off x="935491" y="866976"/>
          <a:ext cx="7273018" cy="3409548"/>
        </p:xfrm>
        <a:graphic>
          <a:graphicData uri="http://schemas.openxmlformats.org/drawingml/2006/table">
            <a:tbl>
              <a:tblPr/>
              <a:tblGrid>
                <a:gridCol w="3636509">
                  <a:extLst>
                    <a:ext uri="{9D8B030D-6E8A-4147-A177-3AD203B41FA5}">
                      <a16:colId xmlns:a16="http://schemas.microsoft.com/office/drawing/2014/main" val="1421923417"/>
                    </a:ext>
                  </a:extLst>
                </a:gridCol>
                <a:gridCol w="3636509">
                  <a:extLst>
                    <a:ext uri="{9D8B030D-6E8A-4147-A177-3AD203B41FA5}">
                      <a16:colId xmlns:a16="http://schemas.microsoft.com/office/drawing/2014/main" val="674248148"/>
                    </a:ext>
                  </a:extLst>
                </a:gridCol>
              </a:tblGrid>
              <a:tr h="32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指标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结果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185693"/>
                  </a:ext>
                </a:extLst>
              </a:tr>
              <a:tr h="80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系统调用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latin typeface="Courier New" panose="02070309020205020404" pitchFamily="49" charset="0"/>
                        </a:rPr>
                        <a:t>io_uring_setup</a:t>
                      </a:r>
                      <a:r>
                        <a:rPr lang="zh-CN" sz="1600" dirty="0"/>
                        <a:t> / </a:t>
                      </a:r>
                      <a:r>
                        <a:rPr lang="zh-CN" sz="1600" dirty="0">
                          <a:latin typeface="Courier New" panose="02070309020205020404" pitchFamily="49" charset="0"/>
                        </a:rPr>
                        <a:t>io_uring_enter</a:t>
                      </a:r>
                      <a:r>
                        <a:rPr lang="zh-CN" sz="1600" dirty="0"/>
                        <a:t> / </a:t>
                      </a:r>
                      <a:r>
                        <a:rPr lang="zh-CN" sz="1600" dirty="0">
                          <a:latin typeface="Courier New" panose="02070309020205020404" pitchFamily="49" charset="0"/>
                        </a:rPr>
                        <a:t>io_uring_register</a:t>
                      </a:r>
                      <a:endParaRPr lang="zh-CN" sz="1600" dirty="0"/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518501"/>
                  </a:ext>
                </a:extLst>
              </a:tr>
              <a:tr h="32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支持 opcode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13 个 I/O opcode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098002"/>
                  </a:ext>
                </a:extLst>
              </a:tr>
              <a:tr h="32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register opcode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7 个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375266"/>
                  </a:ext>
                </a:extLst>
              </a:tr>
              <a:tr h="32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自测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15/15 通过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624090"/>
                  </a:ext>
                </a:extLst>
              </a:tr>
              <a:tr h="32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tokio-rs io-uring-test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10/11 通过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65625"/>
                  </a:ext>
                </a:extLst>
              </a:tr>
              <a:tr h="32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真实 liburing 核心测试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5/5 通过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072759"/>
                  </a:ext>
                </a:extLst>
              </a:tr>
              <a:tr h="32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高并发 echo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96 并发 io_uring 96/96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4432"/>
                  </a:ext>
                </a:extLst>
              </a:tr>
              <a:tr h="32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持续吞吐可靠性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N=10–50 均 100% 可靠，RST=0</a:t>
                      </a:r>
                    </a:p>
                  </a:txBody>
                  <a:tcPr marL="80811" marR="80811" marT="40406" marB="40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573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73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04102" y="1347614"/>
            <a:ext cx="1075775" cy="2149930"/>
            <a:chOff x="604102" y="1347614"/>
            <a:chExt cx="1075775" cy="2149930"/>
          </a:xfrm>
        </p:grpSpPr>
        <p:grpSp>
          <p:nvGrpSpPr>
            <p:cNvPr id="3" name="组合 2"/>
            <p:cNvGrpSpPr/>
            <p:nvPr/>
          </p:nvGrpSpPr>
          <p:grpSpPr>
            <a:xfrm>
              <a:off x="755576" y="1347614"/>
              <a:ext cx="806989" cy="2149930"/>
              <a:chOff x="1477543" y="637844"/>
              <a:chExt cx="6486890" cy="3157021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835696" y="915566"/>
                <a:ext cx="5472608" cy="252028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6868198" y="637844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477543" y="2571750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765847" y="1858649"/>
              <a:ext cx="738664" cy="11278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3600" b="1" dirty="0">
                  <a:cs typeface="+mn-ea"/>
                </a:rPr>
                <a:t>目录</a:t>
              </a: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387200" y="1623395"/>
              <a:ext cx="292677" cy="2926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604102" y="2929074"/>
              <a:ext cx="292677" cy="2926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2123728" y="1207896"/>
            <a:ext cx="3394810" cy="830997"/>
            <a:chOff x="3212859" y="1207896"/>
            <a:chExt cx="3394810" cy="830997"/>
          </a:xfrm>
        </p:grpSpPr>
        <p:sp>
          <p:nvSpPr>
            <p:cNvPr id="14" name="文本框 13"/>
            <p:cNvSpPr txBox="1"/>
            <p:nvPr/>
          </p:nvSpPr>
          <p:spPr>
            <a:xfrm>
              <a:off x="3212859" y="1207896"/>
              <a:ext cx="3394810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01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研究背景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Subject background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26" name="直接连接符 25"/>
            <p:cNvCxnSpPr>
              <a:endCxn id="14" idx="2"/>
            </p:cNvCxnSpPr>
            <p:nvPr/>
          </p:nvCxnSpPr>
          <p:spPr>
            <a:xfrm>
              <a:off x="3284867" y="2038893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2123728" y="3082045"/>
            <a:ext cx="3394810" cy="830997"/>
            <a:chOff x="3140851" y="3097656"/>
            <a:chExt cx="3394810" cy="830997"/>
          </a:xfrm>
        </p:grpSpPr>
        <p:sp>
          <p:nvSpPr>
            <p:cNvPr id="17" name="文本框 16"/>
            <p:cNvSpPr txBox="1"/>
            <p:nvPr/>
          </p:nvSpPr>
          <p:spPr>
            <a:xfrm>
              <a:off x="3140851" y="3097656"/>
              <a:ext cx="3394810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04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任务调度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Task scheduling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284867" y="3928653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6554846" y="1207896"/>
            <a:ext cx="1833578" cy="839499"/>
            <a:chOff x="5978782" y="1207896"/>
            <a:chExt cx="1833578" cy="839499"/>
          </a:xfrm>
        </p:grpSpPr>
        <p:sp>
          <p:nvSpPr>
            <p:cNvPr id="20" name="文本框 19"/>
            <p:cNvSpPr txBox="1"/>
            <p:nvPr/>
          </p:nvSpPr>
          <p:spPr>
            <a:xfrm>
              <a:off x="5978782" y="1207896"/>
              <a:ext cx="1833578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03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技术细节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Technical details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5978782" y="204739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6560101" y="3097656"/>
            <a:ext cx="1833578" cy="839499"/>
            <a:chOff x="5978782" y="3097656"/>
            <a:chExt cx="1833578" cy="839499"/>
          </a:xfrm>
        </p:grpSpPr>
        <p:sp>
          <p:nvSpPr>
            <p:cNvPr id="23" name="文本框 22"/>
            <p:cNvSpPr txBox="1"/>
            <p:nvPr/>
          </p:nvSpPr>
          <p:spPr>
            <a:xfrm>
              <a:off x="5978782" y="3097656"/>
              <a:ext cx="1833578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06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研究总结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Subject summit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5978782" y="393715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DE497EC-DEAC-B876-A89D-723C40473288}"/>
              </a:ext>
            </a:extLst>
          </p:cNvPr>
          <p:cNvGrpSpPr/>
          <p:nvPr/>
        </p:nvGrpSpPr>
        <p:grpSpPr>
          <a:xfrm>
            <a:off x="4306685" y="1207896"/>
            <a:ext cx="1833578" cy="839499"/>
            <a:chOff x="5978782" y="1207896"/>
            <a:chExt cx="1833578" cy="839499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2201005-FD32-7747-C724-ABC730B37F27}"/>
                </a:ext>
              </a:extLst>
            </p:cNvPr>
            <p:cNvSpPr txBox="1"/>
            <p:nvPr/>
          </p:nvSpPr>
          <p:spPr>
            <a:xfrm>
              <a:off x="5978782" y="1207896"/>
              <a:ext cx="1833578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02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设计方案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Subject program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33D6837-32DB-D3B7-13D5-E4A25D6CE2B0}"/>
                </a:ext>
              </a:extLst>
            </p:cNvPr>
            <p:cNvCxnSpPr/>
            <p:nvPr/>
          </p:nvCxnSpPr>
          <p:spPr>
            <a:xfrm>
              <a:off x="5978782" y="204739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D38501C-E236-ECC4-9BFB-7E28BB48FC2B}"/>
              </a:ext>
            </a:extLst>
          </p:cNvPr>
          <p:cNvGrpSpPr/>
          <p:nvPr/>
        </p:nvGrpSpPr>
        <p:grpSpPr>
          <a:xfrm>
            <a:off x="4306685" y="3097656"/>
            <a:ext cx="1833578" cy="839499"/>
            <a:chOff x="5978782" y="3097656"/>
            <a:chExt cx="1833578" cy="839499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B264360-D59B-1B73-53DE-CA916B343B4A}"/>
                </a:ext>
              </a:extLst>
            </p:cNvPr>
            <p:cNvSpPr txBox="1"/>
            <p:nvPr/>
          </p:nvSpPr>
          <p:spPr>
            <a:xfrm>
              <a:off x="5978782" y="3097656"/>
              <a:ext cx="1833578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05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性能测试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Performance testing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AEDF970-769F-FCB8-565F-11E1DAFBBDBD}"/>
                </a:ext>
              </a:extLst>
            </p:cNvPr>
            <p:cNvCxnSpPr/>
            <p:nvPr/>
          </p:nvCxnSpPr>
          <p:spPr>
            <a:xfrm>
              <a:off x="5978782" y="393715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4" y="0"/>
            <a:ext cx="3273890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b="1" dirty="0"/>
                <a:t>项目背景与研发目标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022390" y="1979922"/>
            <a:ext cx="1099220" cy="1183656"/>
            <a:chOff x="3203848" y="1131590"/>
            <a:chExt cx="2673584" cy="2878954"/>
          </a:xfrm>
        </p:grpSpPr>
        <p:grpSp>
          <p:nvGrpSpPr>
            <p:cNvPr id="11" name="组合 10"/>
            <p:cNvGrpSpPr/>
            <p:nvPr/>
          </p:nvGrpSpPr>
          <p:grpSpPr>
            <a:xfrm>
              <a:off x="3743908" y="1132955"/>
              <a:ext cx="1656184" cy="2877589"/>
              <a:chOff x="1477543" y="637844"/>
              <a:chExt cx="6486890" cy="3157021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835696" y="915566"/>
                <a:ext cx="5472608" cy="252028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868198" y="637844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477543" y="2571750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</p:grpSp>
        <p:cxnSp>
          <p:nvCxnSpPr>
            <p:cNvPr id="19" name="直接连接符 18"/>
            <p:cNvCxnSpPr/>
            <p:nvPr/>
          </p:nvCxnSpPr>
          <p:spPr>
            <a:xfrm flipH="1">
              <a:off x="5076056" y="113159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3203848" y="3075806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275"/>
            <p:cNvSpPr>
              <a:spLocks noEditPoints="1"/>
            </p:cNvSpPr>
            <p:nvPr/>
          </p:nvSpPr>
          <p:spPr bwMode="auto">
            <a:xfrm>
              <a:off x="4226355" y="2222993"/>
              <a:ext cx="691289" cy="697514"/>
            </a:xfrm>
            <a:custGeom>
              <a:avLst/>
              <a:gdLst>
                <a:gd name="T0" fmla="*/ 144 w 288"/>
                <a:gd name="T1" fmla="*/ 0 h 288"/>
                <a:gd name="T2" fmla="*/ 0 w 288"/>
                <a:gd name="T3" fmla="*/ 144 h 288"/>
                <a:gd name="T4" fmla="*/ 144 w 288"/>
                <a:gd name="T5" fmla="*/ 288 h 288"/>
                <a:gd name="T6" fmla="*/ 288 w 288"/>
                <a:gd name="T7" fmla="*/ 144 h 288"/>
                <a:gd name="T8" fmla="*/ 144 w 288"/>
                <a:gd name="T9" fmla="*/ 0 h 288"/>
                <a:gd name="T10" fmla="*/ 233 w 288"/>
                <a:gd name="T11" fmla="*/ 131 h 288"/>
                <a:gd name="T12" fmla="*/ 230 w 288"/>
                <a:gd name="T13" fmla="*/ 134 h 288"/>
                <a:gd name="T14" fmla="*/ 189 w 288"/>
                <a:gd name="T15" fmla="*/ 161 h 288"/>
                <a:gd name="T16" fmla="*/ 187 w 288"/>
                <a:gd name="T17" fmla="*/ 165 h 288"/>
                <a:gd name="T18" fmla="*/ 188 w 288"/>
                <a:gd name="T19" fmla="*/ 166 h 288"/>
                <a:gd name="T20" fmla="*/ 205 w 288"/>
                <a:gd name="T21" fmla="*/ 218 h 288"/>
                <a:gd name="T22" fmla="*/ 206 w 288"/>
                <a:gd name="T23" fmla="*/ 223 h 288"/>
                <a:gd name="T24" fmla="*/ 205 w 288"/>
                <a:gd name="T25" fmla="*/ 229 h 288"/>
                <a:gd name="T26" fmla="*/ 198 w 288"/>
                <a:gd name="T27" fmla="*/ 232 h 288"/>
                <a:gd name="T28" fmla="*/ 198 w 288"/>
                <a:gd name="T29" fmla="*/ 232 h 288"/>
                <a:gd name="T30" fmla="*/ 190 w 288"/>
                <a:gd name="T31" fmla="*/ 229 h 288"/>
                <a:gd name="T32" fmla="*/ 148 w 288"/>
                <a:gd name="T33" fmla="*/ 195 h 288"/>
                <a:gd name="T34" fmla="*/ 146 w 288"/>
                <a:gd name="T35" fmla="*/ 194 h 288"/>
                <a:gd name="T36" fmla="*/ 144 w 288"/>
                <a:gd name="T37" fmla="*/ 195 h 288"/>
                <a:gd name="T38" fmla="*/ 104 w 288"/>
                <a:gd name="T39" fmla="*/ 229 h 288"/>
                <a:gd name="T40" fmla="*/ 96 w 288"/>
                <a:gd name="T41" fmla="*/ 232 h 288"/>
                <a:gd name="T42" fmla="*/ 89 w 288"/>
                <a:gd name="T43" fmla="*/ 229 h 288"/>
                <a:gd name="T44" fmla="*/ 87 w 288"/>
                <a:gd name="T45" fmla="*/ 223 h 288"/>
                <a:gd name="T46" fmla="*/ 88 w 288"/>
                <a:gd name="T47" fmla="*/ 218 h 288"/>
                <a:gd name="T48" fmla="*/ 104 w 288"/>
                <a:gd name="T49" fmla="*/ 166 h 288"/>
                <a:gd name="T50" fmla="*/ 104 w 288"/>
                <a:gd name="T51" fmla="*/ 165 h 288"/>
                <a:gd name="T52" fmla="*/ 102 w 288"/>
                <a:gd name="T53" fmla="*/ 161 h 288"/>
                <a:gd name="T54" fmla="*/ 61 w 288"/>
                <a:gd name="T55" fmla="*/ 134 h 288"/>
                <a:gd name="T56" fmla="*/ 58 w 288"/>
                <a:gd name="T57" fmla="*/ 131 h 288"/>
                <a:gd name="T58" fmla="*/ 56 w 288"/>
                <a:gd name="T59" fmla="*/ 125 h 288"/>
                <a:gd name="T60" fmla="*/ 57 w 288"/>
                <a:gd name="T61" fmla="*/ 120 h 288"/>
                <a:gd name="T62" fmla="*/ 61 w 288"/>
                <a:gd name="T63" fmla="*/ 117 h 288"/>
                <a:gd name="T64" fmla="*/ 67 w 288"/>
                <a:gd name="T65" fmla="*/ 116 h 288"/>
                <a:gd name="T66" fmla="*/ 118 w 288"/>
                <a:gd name="T67" fmla="*/ 116 h 288"/>
                <a:gd name="T68" fmla="*/ 120 w 288"/>
                <a:gd name="T69" fmla="*/ 115 h 288"/>
                <a:gd name="T70" fmla="*/ 122 w 288"/>
                <a:gd name="T71" fmla="*/ 113 h 288"/>
                <a:gd name="T72" fmla="*/ 136 w 288"/>
                <a:gd name="T73" fmla="*/ 61 h 288"/>
                <a:gd name="T74" fmla="*/ 138 w 288"/>
                <a:gd name="T75" fmla="*/ 56 h 288"/>
                <a:gd name="T76" fmla="*/ 146 w 288"/>
                <a:gd name="T77" fmla="*/ 52 h 288"/>
                <a:gd name="T78" fmla="*/ 153 w 288"/>
                <a:gd name="T79" fmla="*/ 56 h 288"/>
                <a:gd name="T80" fmla="*/ 155 w 288"/>
                <a:gd name="T81" fmla="*/ 61 h 288"/>
                <a:gd name="T82" fmla="*/ 170 w 288"/>
                <a:gd name="T83" fmla="*/ 113 h 288"/>
                <a:gd name="T84" fmla="*/ 171 w 288"/>
                <a:gd name="T85" fmla="*/ 115 h 288"/>
                <a:gd name="T86" fmla="*/ 174 w 288"/>
                <a:gd name="T87" fmla="*/ 116 h 288"/>
                <a:gd name="T88" fmla="*/ 224 w 288"/>
                <a:gd name="T89" fmla="*/ 116 h 288"/>
                <a:gd name="T90" fmla="*/ 229 w 288"/>
                <a:gd name="T91" fmla="*/ 117 h 288"/>
                <a:gd name="T92" fmla="*/ 234 w 288"/>
                <a:gd name="T93" fmla="*/ 120 h 288"/>
                <a:gd name="T94" fmla="*/ 236 w 288"/>
                <a:gd name="T95" fmla="*/ 125 h 288"/>
                <a:gd name="T96" fmla="*/ 233 w 288"/>
                <a:gd name="T97" fmla="*/ 13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8" h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223"/>
                    <a:pt x="65" y="288"/>
                    <a:pt x="144" y="288"/>
                  </a:cubicBezTo>
                  <a:cubicBezTo>
                    <a:pt x="224" y="288"/>
                    <a:pt x="288" y="223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  <a:moveTo>
                    <a:pt x="233" y="131"/>
                  </a:moveTo>
                  <a:cubicBezTo>
                    <a:pt x="232" y="133"/>
                    <a:pt x="231" y="134"/>
                    <a:pt x="230" y="13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8" y="161"/>
                    <a:pt x="187" y="164"/>
                    <a:pt x="187" y="165"/>
                  </a:cubicBezTo>
                  <a:cubicBezTo>
                    <a:pt x="187" y="165"/>
                    <a:pt x="187" y="166"/>
                    <a:pt x="188" y="166"/>
                  </a:cubicBezTo>
                  <a:cubicBezTo>
                    <a:pt x="205" y="218"/>
                    <a:pt x="205" y="218"/>
                    <a:pt x="205" y="218"/>
                  </a:cubicBezTo>
                  <a:cubicBezTo>
                    <a:pt x="206" y="220"/>
                    <a:pt x="206" y="221"/>
                    <a:pt x="206" y="223"/>
                  </a:cubicBezTo>
                  <a:cubicBezTo>
                    <a:pt x="206" y="225"/>
                    <a:pt x="206" y="227"/>
                    <a:pt x="205" y="229"/>
                  </a:cubicBezTo>
                  <a:cubicBezTo>
                    <a:pt x="203" y="231"/>
                    <a:pt x="200" y="232"/>
                    <a:pt x="198" y="232"/>
                  </a:cubicBezTo>
                  <a:cubicBezTo>
                    <a:pt x="198" y="232"/>
                    <a:pt x="198" y="232"/>
                    <a:pt x="198" y="232"/>
                  </a:cubicBezTo>
                  <a:cubicBezTo>
                    <a:pt x="194" y="232"/>
                    <a:pt x="192" y="230"/>
                    <a:pt x="190" y="229"/>
                  </a:cubicBezTo>
                  <a:cubicBezTo>
                    <a:pt x="148" y="195"/>
                    <a:pt x="148" y="195"/>
                    <a:pt x="148" y="195"/>
                  </a:cubicBezTo>
                  <a:cubicBezTo>
                    <a:pt x="148" y="194"/>
                    <a:pt x="147" y="194"/>
                    <a:pt x="146" y="194"/>
                  </a:cubicBezTo>
                  <a:cubicBezTo>
                    <a:pt x="145" y="194"/>
                    <a:pt x="144" y="194"/>
                    <a:pt x="144" y="195"/>
                  </a:cubicBezTo>
                  <a:cubicBezTo>
                    <a:pt x="104" y="229"/>
                    <a:pt x="104" y="229"/>
                    <a:pt x="104" y="229"/>
                  </a:cubicBezTo>
                  <a:cubicBezTo>
                    <a:pt x="102" y="230"/>
                    <a:pt x="100" y="232"/>
                    <a:pt x="96" y="232"/>
                  </a:cubicBezTo>
                  <a:cubicBezTo>
                    <a:pt x="94" y="232"/>
                    <a:pt x="91" y="231"/>
                    <a:pt x="89" y="229"/>
                  </a:cubicBezTo>
                  <a:cubicBezTo>
                    <a:pt x="88" y="226"/>
                    <a:pt x="87" y="224"/>
                    <a:pt x="87" y="223"/>
                  </a:cubicBezTo>
                  <a:cubicBezTo>
                    <a:pt x="87" y="221"/>
                    <a:pt x="88" y="220"/>
                    <a:pt x="88" y="218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4" y="166"/>
                    <a:pt x="104" y="166"/>
                    <a:pt x="104" y="165"/>
                  </a:cubicBezTo>
                  <a:cubicBezTo>
                    <a:pt x="104" y="164"/>
                    <a:pt x="103" y="162"/>
                    <a:pt x="102" y="161"/>
                  </a:cubicBezTo>
                  <a:cubicBezTo>
                    <a:pt x="61" y="134"/>
                    <a:pt x="61" y="134"/>
                    <a:pt x="61" y="134"/>
                  </a:cubicBezTo>
                  <a:cubicBezTo>
                    <a:pt x="60" y="134"/>
                    <a:pt x="59" y="133"/>
                    <a:pt x="58" y="131"/>
                  </a:cubicBezTo>
                  <a:cubicBezTo>
                    <a:pt x="57" y="130"/>
                    <a:pt x="56" y="128"/>
                    <a:pt x="56" y="125"/>
                  </a:cubicBezTo>
                  <a:cubicBezTo>
                    <a:pt x="56" y="123"/>
                    <a:pt x="56" y="121"/>
                    <a:pt x="57" y="120"/>
                  </a:cubicBezTo>
                  <a:cubicBezTo>
                    <a:pt x="59" y="119"/>
                    <a:pt x="60" y="118"/>
                    <a:pt x="61" y="117"/>
                  </a:cubicBezTo>
                  <a:cubicBezTo>
                    <a:pt x="63" y="116"/>
                    <a:pt x="65" y="116"/>
                    <a:pt x="67" y="116"/>
                  </a:cubicBezTo>
                  <a:cubicBezTo>
                    <a:pt x="118" y="116"/>
                    <a:pt x="118" y="116"/>
                    <a:pt x="118" y="116"/>
                  </a:cubicBezTo>
                  <a:cubicBezTo>
                    <a:pt x="118" y="116"/>
                    <a:pt x="119" y="116"/>
                    <a:pt x="120" y="115"/>
                  </a:cubicBezTo>
                  <a:cubicBezTo>
                    <a:pt x="121" y="115"/>
                    <a:pt x="121" y="114"/>
                    <a:pt x="122" y="11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59"/>
                    <a:pt x="137" y="57"/>
                    <a:pt x="138" y="56"/>
                  </a:cubicBezTo>
                  <a:cubicBezTo>
                    <a:pt x="139" y="54"/>
                    <a:pt x="142" y="52"/>
                    <a:pt x="146" y="52"/>
                  </a:cubicBezTo>
                  <a:cubicBezTo>
                    <a:pt x="150" y="52"/>
                    <a:pt x="152" y="54"/>
                    <a:pt x="153" y="56"/>
                  </a:cubicBezTo>
                  <a:cubicBezTo>
                    <a:pt x="154" y="57"/>
                    <a:pt x="154" y="59"/>
                    <a:pt x="155" y="61"/>
                  </a:cubicBezTo>
                  <a:cubicBezTo>
                    <a:pt x="170" y="113"/>
                    <a:pt x="170" y="113"/>
                    <a:pt x="170" y="113"/>
                  </a:cubicBezTo>
                  <a:cubicBezTo>
                    <a:pt x="170" y="114"/>
                    <a:pt x="170" y="115"/>
                    <a:pt x="171" y="115"/>
                  </a:cubicBezTo>
                  <a:cubicBezTo>
                    <a:pt x="172" y="116"/>
                    <a:pt x="173" y="116"/>
                    <a:pt x="174" y="116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6" y="116"/>
                    <a:pt x="227" y="116"/>
                    <a:pt x="229" y="117"/>
                  </a:cubicBezTo>
                  <a:cubicBezTo>
                    <a:pt x="230" y="117"/>
                    <a:pt x="232" y="118"/>
                    <a:pt x="234" y="120"/>
                  </a:cubicBezTo>
                  <a:cubicBezTo>
                    <a:pt x="235" y="121"/>
                    <a:pt x="236" y="123"/>
                    <a:pt x="236" y="125"/>
                  </a:cubicBezTo>
                  <a:cubicBezTo>
                    <a:pt x="236" y="128"/>
                    <a:pt x="234" y="130"/>
                    <a:pt x="233" y="131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1072734" y="1845016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43305" y="1481431"/>
            <a:ext cx="2580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传统 I/O 机制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4" name="TextBox 13"/>
          <p:cNvSpPr txBox="1"/>
          <p:nvPr/>
        </p:nvSpPr>
        <p:spPr>
          <a:xfrm>
            <a:off x="539552" y="1909411"/>
            <a:ext cx="3482838" cy="21825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400" b="1" dirty="0">
                <a:latin typeface="+mn-ea"/>
                <a:cs typeface="+mn-ea"/>
                <a:sym typeface="Calibri" panose="020F0502020204030204" pitchFamily="34" charset="0"/>
              </a:rPr>
              <a:t>POSIX </a:t>
            </a:r>
            <a:r>
              <a:rPr lang="zh-CN" altLang="en-US" sz="1400" b="1" dirty="0">
                <a:latin typeface="+mn-ea"/>
                <a:cs typeface="+mn-ea"/>
                <a:sym typeface="Calibri" panose="020F0502020204030204" pitchFamily="34" charset="0"/>
              </a:rPr>
              <a:t>语义对 </a:t>
            </a:r>
            <a:r>
              <a:rPr lang="en-US" altLang="zh-CN" sz="1400" b="1" dirty="0">
                <a:latin typeface="+mn-ea"/>
                <a:cs typeface="+mn-ea"/>
                <a:sym typeface="Calibri" panose="020F0502020204030204" pitchFamily="34" charset="0"/>
              </a:rPr>
              <a:t>I/O </a:t>
            </a:r>
            <a:r>
              <a:rPr lang="zh-CN" altLang="en-US" sz="1400" b="1" dirty="0">
                <a:latin typeface="+mn-ea"/>
                <a:cs typeface="+mn-ea"/>
                <a:sym typeface="Calibri" panose="020F0502020204030204" pitchFamily="34" charset="0"/>
              </a:rPr>
              <a:t>批处理的限制</a:t>
            </a:r>
            <a:endParaRPr lang="en-US" altLang="zh-CN" sz="1400" b="1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    在传统模型中，每次具体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I/O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操作与内核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Trap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上下文切换存在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1:1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的刚性绑定，在高频小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I/O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并发场景下无法分摊系统调用成本。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latin typeface="+mn-ea"/>
                <a:cs typeface="+mn-ea"/>
                <a:sym typeface="Calibri" panose="020F0502020204030204" pitchFamily="34" charset="0"/>
              </a:rPr>
              <a:t>单一内核线程环境下的高度竞争</a:t>
            </a:r>
            <a:endParaRPr lang="en-US" altLang="zh-CN" sz="1400" b="1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200" b="1" dirty="0">
                <a:latin typeface="+mn-ea"/>
                <a:cs typeface="+mn-ea"/>
                <a:sym typeface="Calibri" panose="020F0502020204030204" pitchFamily="34" charset="0"/>
              </a:rPr>
              <a:t>    </a:t>
            </a:r>
            <a:r>
              <a:rPr lang="en-US" altLang="zh-CN" sz="1050" dirty="0" err="1">
                <a:latin typeface="+mn-ea"/>
                <a:cs typeface="+mn-ea"/>
                <a:sym typeface="Calibri" panose="020F0502020204030204" pitchFamily="34" charset="0"/>
              </a:rPr>
              <a:t>StarryOS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默认采用固定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256KB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的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Task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独立栈空间，无法动态共享。在单核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SMP=1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的负载下，强行采用传统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Thread-per-connection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模型或在 </a:t>
            </a:r>
            <a:r>
              <a:rPr lang="en-US" altLang="zh-CN" sz="1050" dirty="0" err="1">
                <a:latin typeface="+mn-ea"/>
                <a:cs typeface="+mn-ea"/>
                <a:sym typeface="Calibri" panose="020F0502020204030204" pitchFamily="34" charset="0"/>
              </a:rPr>
              <a:t>epoll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触发就绪后引入同步写，极易因单核调度窗口错失，导致底层 </a:t>
            </a:r>
            <a:r>
              <a:rPr lang="en-US" altLang="zh-CN" sz="1050" dirty="0" err="1">
                <a:latin typeface="+mn-ea"/>
                <a:cs typeface="+mn-ea"/>
                <a:sym typeface="Calibri" panose="020F0502020204030204" pitchFamily="34" charset="0"/>
              </a:rPr>
              <a:t>smoltcp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协议栈遭遇流控零窗口超时，进而引发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RST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崩溃。</a:t>
            </a:r>
            <a:endParaRPr lang="en-US" altLang="zh-CN" sz="1050" dirty="0">
              <a:latin typeface="+mn-ea"/>
              <a:cs typeface="+mn-ea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6041286" y="1845016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012180" y="1481431"/>
            <a:ext cx="25977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Century Gothic" panose="020B0502020202020204" pitchFamily="34" charset="0"/>
                <a:cs typeface="+mn-ea"/>
              </a:rPr>
              <a:t>研发目标</a:t>
            </a:r>
          </a:p>
        </p:txBody>
      </p:sp>
      <p:sp>
        <p:nvSpPr>
          <p:cNvPr id="27" name="TextBox 13"/>
          <p:cNvSpPr txBox="1"/>
          <p:nvPr/>
        </p:nvSpPr>
        <p:spPr>
          <a:xfrm>
            <a:off x="5139764" y="1909411"/>
            <a:ext cx="3464684" cy="182703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latin typeface="+mn-ea"/>
                <a:cs typeface="+mn-ea"/>
                <a:sym typeface="Calibri" panose="020F0502020204030204" pitchFamily="34" charset="0"/>
              </a:rPr>
              <a:t>构建 </a:t>
            </a:r>
            <a:r>
              <a:rPr lang="en-US" altLang="zh-CN" sz="1400" b="1" dirty="0" err="1">
                <a:latin typeface="+mn-ea"/>
                <a:cs typeface="+mn-ea"/>
                <a:sym typeface="Calibri" panose="020F0502020204030204" pitchFamily="34" charset="0"/>
              </a:rPr>
              <a:t>Proactor</a:t>
            </a:r>
            <a:r>
              <a:rPr lang="en-US" altLang="zh-CN" sz="1400" b="1" dirty="0">
                <a:latin typeface="+mn-ea"/>
                <a:cs typeface="+mn-ea"/>
                <a:sym typeface="Calibri" panose="020F0502020204030204" pitchFamily="34" charset="0"/>
              </a:rPr>
              <a:t> </a:t>
            </a:r>
            <a:r>
              <a:rPr lang="zh-CN" altLang="en-US" sz="1400" b="1" dirty="0">
                <a:latin typeface="+mn-ea"/>
                <a:cs typeface="+mn-ea"/>
                <a:sym typeface="Calibri" panose="020F0502020204030204" pitchFamily="34" charset="0"/>
              </a:rPr>
              <a:t>异步原语</a:t>
            </a:r>
            <a:endParaRPr lang="en-US" altLang="zh-CN" sz="1400" b="1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b="1" dirty="0">
                <a:latin typeface="+mn-ea"/>
                <a:cs typeface="+mn-ea"/>
                <a:sym typeface="Calibri" panose="020F0502020204030204" pitchFamily="34" charset="0"/>
              </a:rPr>
              <a:t>   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在 </a:t>
            </a:r>
            <a:r>
              <a:rPr lang="en-US" altLang="zh-CN" sz="1050" dirty="0" err="1">
                <a:latin typeface="+mn-ea"/>
                <a:cs typeface="+mn-ea"/>
                <a:sym typeface="Calibri" panose="020F0502020204030204" pitchFamily="34" charset="0"/>
              </a:rPr>
              <a:t>StarryOS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上实现符合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Linux 5.x ABI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标准的</a:t>
            </a:r>
            <a:r>
              <a:rPr lang="en-US" altLang="zh-CN" sz="1050" dirty="0" err="1">
                <a:latin typeface="+mn-ea"/>
                <a:cs typeface="+mn-ea"/>
                <a:sym typeface="Calibri" panose="020F0502020204030204" pitchFamily="34" charset="0"/>
              </a:rPr>
              <a:t>io_uring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异步子系统，打通基于共享内存环（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SQ/CQ Ring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）的零拷贝控制路径，实现提交与收割分离语义。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latin typeface="+mn-ea"/>
                <a:cs typeface="+mn-ea"/>
                <a:sym typeface="Calibri" panose="020F0502020204030204" pitchFamily="34" charset="0"/>
              </a:rPr>
              <a:t>解耦 </a:t>
            </a:r>
            <a:r>
              <a:rPr lang="en-US" altLang="zh-CN" sz="1400" b="1" dirty="0">
                <a:latin typeface="+mn-ea"/>
                <a:cs typeface="+mn-ea"/>
                <a:sym typeface="Calibri" panose="020F0502020204030204" pitchFamily="34" charset="0"/>
              </a:rPr>
              <a:t>I/O </a:t>
            </a:r>
            <a:r>
              <a:rPr lang="zh-CN" altLang="en-US" sz="1400" b="1" dirty="0">
                <a:latin typeface="+mn-ea"/>
                <a:cs typeface="+mn-ea"/>
                <a:sym typeface="Calibri" panose="020F0502020204030204" pitchFamily="34" charset="0"/>
              </a:rPr>
              <a:t>触发与 </a:t>
            </a:r>
            <a:r>
              <a:rPr lang="en-US" altLang="zh-CN" sz="1400" b="1" dirty="0">
                <a:latin typeface="+mn-ea"/>
                <a:cs typeface="+mn-ea"/>
                <a:sym typeface="Calibri" panose="020F0502020204030204" pitchFamily="34" charset="0"/>
              </a:rPr>
              <a:t>Trap</a:t>
            </a: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200" b="1" dirty="0">
                <a:latin typeface="+mn-ea"/>
                <a:cs typeface="+mn-ea"/>
                <a:sym typeface="Calibri" panose="020F0502020204030204" pitchFamily="34" charset="0"/>
              </a:rPr>
              <a:t>   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利用用户态批量放置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SQE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、单次系统调用（或内核轮询）统一提交的机制，将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N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次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I/O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操作的系统调用成本收敛至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1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次或 </a:t>
            </a:r>
            <a:r>
              <a:rPr lang="en-US" altLang="zh-CN" sz="1050" dirty="0">
                <a:latin typeface="+mn-ea"/>
                <a:cs typeface="+mn-ea"/>
                <a:sym typeface="Calibri" panose="020F0502020204030204" pitchFamily="34" charset="0"/>
              </a:rPr>
              <a:t>0 </a:t>
            </a: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次。</a:t>
            </a:r>
            <a:endParaRPr lang="en-US" altLang="zh-CN" sz="1050" dirty="0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04E8-45EA-B36C-BE63-1DA9D135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82ECF1D-B4EF-FC39-6CB2-0B12A5AAB37F}"/>
              </a:ext>
            </a:extLst>
          </p:cNvPr>
          <p:cNvGrpSpPr/>
          <p:nvPr/>
        </p:nvGrpSpPr>
        <p:grpSpPr>
          <a:xfrm>
            <a:off x="-47904" y="0"/>
            <a:ext cx="3251751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3FB90CE-8130-F00D-D7B0-691D81868952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F237CA71-330A-D127-836B-F2D5AC422F19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622A048A-0EDC-80E8-09FD-BFDF9AB84375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CE44FDB6-9565-1717-6977-F139F0EE41B9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3E46999B-8C5F-1D93-2BC0-286C98841ECC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1B6B1997-3117-B369-BDD6-08B3749C2B5D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424E6056-1EE4-638E-E908-A114DB21C24F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4300618-E34F-FAE5-B0CA-E7C65DA0694B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/>
                <a:t>io_uring 的核心思想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76A208C4-2984-5094-8CC9-B03601CC03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2" y="987574"/>
            <a:ext cx="9137378" cy="60812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A2948B4-6946-F0EE-8BEC-06892349A2DC}"/>
              </a:ext>
            </a:extLst>
          </p:cNvPr>
          <p:cNvSpPr txBox="1"/>
          <p:nvPr/>
        </p:nvSpPr>
        <p:spPr>
          <a:xfrm>
            <a:off x="179512" y="2561853"/>
            <a:ext cx="4680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用户态和内核态共享 SQ/CQ ring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用户态直接写 SQE，内核消费 SQE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内核完成 I/O 后写 CQE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批量提交减少系统调用次数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异步完成模型避免每个 I/O 都阻塞一个执行流</a:t>
            </a:r>
            <a:endParaRPr lang="zh-CN" altLang="en-US" sz="16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477E2EB-FE0D-8D11-7725-B06603546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1851670"/>
            <a:ext cx="3481921" cy="264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08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3E99943-E612-28AE-D131-A0E6228E3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3950" y="0"/>
            <a:ext cx="5356098" cy="51435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590C4044-841D-8805-026B-2C4D8AD6669A}"/>
              </a:ext>
            </a:extLst>
          </p:cNvPr>
          <p:cNvGrpSpPr/>
          <p:nvPr/>
        </p:nvGrpSpPr>
        <p:grpSpPr>
          <a:xfrm>
            <a:off x="-47903" y="0"/>
            <a:ext cx="2099623" cy="612528"/>
            <a:chOff x="-47903" y="0"/>
            <a:chExt cx="2016224" cy="612528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27A4022-EA02-BEF9-0372-A99145B6CFCF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23F7CD19-3793-A854-03E3-C4391768FE1B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101E27ED-1B3A-0477-03C8-841370E127EE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64C7D0FF-FB16-18BB-6771-B42C73B5578B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E370049B-CE05-C889-B67D-9575553C03E4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A7D5F2E0-708A-78A6-3C17-AAD671106960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AB3FAAB6-F037-8D4A-2FEA-8EBF7E0B4F70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6001B24-8761-F3B3-1FBE-A69088BA268B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总体架构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308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设计方案</a:t>
              </a:r>
            </a:p>
          </p:txBody>
        </p:sp>
      </p:grpSp>
      <p:sp>
        <p:nvSpPr>
          <p:cNvPr id="64" name="AutoShape 3">
            <a:extLst>
              <a:ext uri="{FF2B5EF4-FFF2-40B4-BE49-F238E27FC236}">
                <a16:creationId xmlns:a16="http://schemas.microsoft.com/office/drawing/2014/main" id="{4A53E355-E180-13EB-20A4-6840BC23493E}"/>
              </a:ext>
            </a:extLst>
          </p:cNvPr>
          <p:cNvSpPr/>
          <p:nvPr/>
        </p:nvSpPr>
        <p:spPr>
          <a:xfrm>
            <a:off x="495037" y="915567"/>
            <a:ext cx="4104456" cy="1728192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381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" name="AutoShape 6">
            <a:extLst>
              <a:ext uri="{FF2B5EF4-FFF2-40B4-BE49-F238E27FC236}">
                <a16:creationId xmlns:a16="http://schemas.microsoft.com/office/drawing/2014/main" id="{91CB5173-80A1-3DE7-F6C1-0E696842916A}"/>
              </a:ext>
            </a:extLst>
          </p:cNvPr>
          <p:cNvSpPr/>
          <p:nvPr/>
        </p:nvSpPr>
        <p:spPr>
          <a:xfrm>
            <a:off x="666546" y="1012929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io_uring</a:t>
            </a:r>
            <a:r>
              <a:rPr 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核心内核子系统</a:t>
            </a:r>
            <a:endParaRPr lang="en-US" sz="1600" dirty="0"/>
          </a:p>
        </p:txBody>
      </p:sp>
      <p:sp>
        <p:nvSpPr>
          <p:cNvPr id="72" name="AutoShape 7">
            <a:extLst>
              <a:ext uri="{FF2B5EF4-FFF2-40B4-BE49-F238E27FC236}">
                <a16:creationId xmlns:a16="http://schemas.microsoft.com/office/drawing/2014/main" id="{C1EB3DC9-4F22-E394-2D18-A36AA8F525BC}"/>
              </a:ext>
            </a:extLst>
          </p:cNvPr>
          <p:cNvSpPr/>
          <p:nvPr/>
        </p:nvSpPr>
        <p:spPr>
          <a:xfrm>
            <a:off x="666546" y="1419623"/>
            <a:ext cx="3556000" cy="6531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defRPr/>
            </a:pPr>
            <a:r>
              <a:rPr lang="en-US" sz="1200" b="1" i="0" u="none" strike="noStrike" dirty="0" err="1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</a:t>
            </a:r>
            <a:r>
              <a:rPr lang="en-US" sz="1200" b="1" i="0" u="none" strike="noStrike" dirty="0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负责共享内存环（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SQ/CQ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）的管理、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Global Worker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事件循环调度、无锁通道（</a:t>
            </a:r>
            <a:r>
              <a:rPr lang="en-US" altLang="zh-CN" sz="1200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OpQueue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）的维护。</a:t>
            </a:r>
            <a:endParaRPr lang="en-US" sz="1100" dirty="0"/>
          </a:p>
        </p:txBody>
      </p:sp>
      <p:sp>
        <p:nvSpPr>
          <p:cNvPr id="74" name="AutoShape 8">
            <a:extLst>
              <a:ext uri="{FF2B5EF4-FFF2-40B4-BE49-F238E27FC236}">
                <a16:creationId xmlns:a16="http://schemas.microsoft.com/office/drawing/2014/main" id="{65BDAC1E-2162-D758-1DD9-CA7B7044A33D}"/>
              </a:ext>
            </a:extLst>
          </p:cNvPr>
          <p:cNvSpPr/>
          <p:nvPr/>
        </p:nvSpPr>
        <p:spPr>
          <a:xfrm>
            <a:off x="666546" y="2062603"/>
            <a:ext cx="3556000" cy="4876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1200" b="1" dirty="0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对应代码： </a:t>
            </a:r>
            <a:r>
              <a:rPr lang="en-US" sz="1200" dirty="0">
                <a:latin typeface="+mn-ea"/>
                <a:cs typeface="+mn-ea"/>
                <a:sym typeface="Noto Sans SC" panose="020B0200000000000000" charset="-122"/>
              </a:rPr>
              <a:t>kernel/src/file/io_uring/mod.rs </a:t>
            </a:r>
            <a:r>
              <a:rPr lang="zh-CN" altLang="en-US" sz="1200" dirty="0">
                <a:latin typeface="+mn-ea"/>
                <a:cs typeface="+mn-ea"/>
                <a:sym typeface="Noto Sans SC" panose="020B0200000000000000" charset="-122"/>
              </a:rPr>
              <a:t>和 </a:t>
            </a:r>
            <a:r>
              <a:rPr lang="en-US" sz="1200" dirty="0">
                <a:latin typeface="+mn-ea"/>
                <a:cs typeface="+mn-ea"/>
                <a:sym typeface="Noto Sans SC" panose="020B0200000000000000" charset="-122"/>
              </a:rPr>
              <a:t>syscall.rs。</a:t>
            </a:r>
            <a:endParaRPr lang="en-US" sz="1200" dirty="0">
              <a:latin typeface="+mn-ea"/>
              <a:cs typeface="+mn-ea"/>
            </a:endParaRPr>
          </a:p>
        </p:txBody>
      </p:sp>
      <p:sp>
        <p:nvSpPr>
          <p:cNvPr id="91" name="AutoShape 3">
            <a:extLst>
              <a:ext uri="{FF2B5EF4-FFF2-40B4-BE49-F238E27FC236}">
                <a16:creationId xmlns:a16="http://schemas.microsoft.com/office/drawing/2014/main" id="{AFC12852-C22B-FBF0-748C-2F75E755B1A3}"/>
              </a:ext>
            </a:extLst>
          </p:cNvPr>
          <p:cNvSpPr/>
          <p:nvPr/>
        </p:nvSpPr>
        <p:spPr>
          <a:xfrm>
            <a:off x="495037" y="2923168"/>
            <a:ext cx="4104456" cy="1728192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381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" name="AutoShape 6">
            <a:extLst>
              <a:ext uri="{FF2B5EF4-FFF2-40B4-BE49-F238E27FC236}">
                <a16:creationId xmlns:a16="http://schemas.microsoft.com/office/drawing/2014/main" id="{A398DC3E-CDA2-2195-4435-7F8DDE4469B8}"/>
              </a:ext>
            </a:extLst>
          </p:cNvPr>
          <p:cNvSpPr/>
          <p:nvPr/>
        </p:nvSpPr>
        <p:spPr>
          <a:xfrm>
            <a:off x="666546" y="302053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StarryOS</a:t>
            </a:r>
            <a:r>
              <a:rPr 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驱动与 </a:t>
            </a:r>
            <a:r>
              <a:rPr 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VFS </a:t>
            </a:r>
            <a:r>
              <a:rPr lang="zh-CN" alt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差异化适配</a:t>
            </a:r>
            <a:endParaRPr lang="en-US" sz="1600" dirty="0"/>
          </a:p>
        </p:txBody>
      </p:sp>
      <p:sp>
        <p:nvSpPr>
          <p:cNvPr id="93" name="AutoShape 7">
            <a:extLst>
              <a:ext uri="{FF2B5EF4-FFF2-40B4-BE49-F238E27FC236}">
                <a16:creationId xmlns:a16="http://schemas.microsoft.com/office/drawing/2014/main" id="{38112E9E-FFAC-B69D-A9CD-B6B5D9CF87D3}"/>
              </a:ext>
            </a:extLst>
          </p:cNvPr>
          <p:cNvSpPr/>
          <p:nvPr/>
        </p:nvSpPr>
        <p:spPr>
          <a:xfrm>
            <a:off x="666546" y="3427224"/>
            <a:ext cx="3556000" cy="6531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defRPr/>
            </a:pPr>
            <a:r>
              <a:rPr lang="en-US" sz="1200" b="1" i="0" u="none" strike="noStrike" dirty="0" err="1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</a:t>
            </a:r>
            <a:r>
              <a:rPr lang="en-US" sz="1200" b="1" i="0" u="none" strike="noStrike" dirty="0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承接 </a:t>
            </a:r>
            <a:r>
              <a:rPr lang="en-US" altLang="zh-CN" sz="1200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io_uring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核心引擎的调度指令，向下针对性地微调修改操作系统现有的通信、文件与网络底层信道，实现异步多路复用接入。</a:t>
            </a:r>
            <a:endParaRPr lang="en-US" sz="1100" dirty="0"/>
          </a:p>
        </p:txBody>
      </p:sp>
      <p:sp>
        <p:nvSpPr>
          <p:cNvPr id="94" name="AutoShape 8">
            <a:extLst>
              <a:ext uri="{FF2B5EF4-FFF2-40B4-BE49-F238E27FC236}">
                <a16:creationId xmlns:a16="http://schemas.microsoft.com/office/drawing/2014/main" id="{8990490C-CD14-B5DE-8151-EEA4DA45986E}"/>
              </a:ext>
            </a:extLst>
          </p:cNvPr>
          <p:cNvSpPr/>
          <p:nvPr/>
        </p:nvSpPr>
        <p:spPr>
          <a:xfrm>
            <a:off x="666546" y="4070204"/>
            <a:ext cx="3556000" cy="4876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1200" b="1" dirty="0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对应代码： </a:t>
            </a:r>
            <a:r>
              <a:rPr lang="en-US" sz="1200" dirty="0">
                <a:latin typeface="+mn-ea"/>
                <a:cs typeface="+mn-ea"/>
                <a:sym typeface="Noto Sans SC" panose="020B0200000000000000" charset="-122"/>
              </a:rPr>
              <a:t>kernel/</a:t>
            </a:r>
            <a:r>
              <a:rPr lang="en-US" sz="1200" dirty="0" err="1">
                <a:latin typeface="+mn-ea"/>
                <a:cs typeface="+mn-ea"/>
                <a:sym typeface="Noto Sans SC" panose="020B0200000000000000" charset="-122"/>
              </a:rPr>
              <a:t>src</a:t>
            </a:r>
            <a:r>
              <a:rPr lang="en-US" sz="1200" dirty="0">
                <a:latin typeface="+mn-ea"/>
                <a:cs typeface="+mn-ea"/>
                <a:sym typeface="Noto Sans SC" panose="020B0200000000000000" charset="-122"/>
              </a:rPr>
              <a:t>/file/ </a:t>
            </a:r>
            <a:r>
              <a:rPr lang="zh-CN" altLang="en-US" sz="1200" dirty="0">
                <a:latin typeface="+mn-ea"/>
                <a:cs typeface="+mn-ea"/>
                <a:sym typeface="Noto Sans SC" panose="020B0200000000000000" charset="-122"/>
              </a:rPr>
              <a:t>下的 </a:t>
            </a:r>
            <a:r>
              <a:rPr lang="en-US" sz="1200" dirty="0">
                <a:latin typeface="+mn-ea"/>
                <a:cs typeface="+mn-ea"/>
                <a:sym typeface="Noto Sans SC" panose="020B0200000000000000" charset="-122"/>
              </a:rPr>
              <a:t>pipe.rs、fs.rs </a:t>
            </a:r>
            <a:r>
              <a:rPr lang="zh-CN" altLang="en-US" sz="1200" dirty="0">
                <a:latin typeface="+mn-ea"/>
                <a:cs typeface="+mn-ea"/>
                <a:sym typeface="Noto Sans SC" panose="020B0200000000000000" charset="-122"/>
              </a:rPr>
              <a:t>及 </a:t>
            </a:r>
            <a:r>
              <a:rPr lang="en-US" sz="1200" dirty="0">
                <a:latin typeface="+mn-ea"/>
                <a:cs typeface="+mn-ea"/>
                <a:sym typeface="Noto Sans SC" panose="020B0200000000000000" charset="-122"/>
              </a:rPr>
              <a:t>Socket </a:t>
            </a:r>
            <a:r>
              <a:rPr lang="zh-CN" altLang="en-US" sz="1200" dirty="0">
                <a:latin typeface="+mn-ea"/>
                <a:cs typeface="+mn-ea"/>
                <a:sym typeface="Noto Sans SC" panose="020B0200000000000000" charset="-122"/>
              </a:rPr>
              <a:t>适配路径。</a:t>
            </a:r>
            <a:endParaRPr lang="en-US" sz="1200" dirty="0">
              <a:latin typeface="+mn-ea"/>
              <a:cs typeface="+mn-ea"/>
            </a:endParaRPr>
          </a:p>
        </p:txBody>
      </p:sp>
      <p:sp>
        <p:nvSpPr>
          <p:cNvPr id="95" name="AutoShape 3">
            <a:extLst>
              <a:ext uri="{FF2B5EF4-FFF2-40B4-BE49-F238E27FC236}">
                <a16:creationId xmlns:a16="http://schemas.microsoft.com/office/drawing/2014/main" id="{24C1FF6B-D157-09F3-3A7F-A3D84A305722}"/>
              </a:ext>
            </a:extLst>
          </p:cNvPr>
          <p:cNvSpPr/>
          <p:nvPr/>
        </p:nvSpPr>
        <p:spPr>
          <a:xfrm>
            <a:off x="4832539" y="915567"/>
            <a:ext cx="4104456" cy="1728192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381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" name="AutoShape 6">
            <a:extLst>
              <a:ext uri="{FF2B5EF4-FFF2-40B4-BE49-F238E27FC236}">
                <a16:creationId xmlns:a16="http://schemas.microsoft.com/office/drawing/2014/main" id="{7166BC40-8F84-9243-6004-E3242FDC7D3F}"/>
              </a:ext>
            </a:extLst>
          </p:cNvPr>
          <p:cNvSpPr/>
          <p:nvPr/>
        </p:nvSpPr>
        <p:spPr>
          <a:xfrm>
            <a:off x="5004048" y="1012929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通用异步 </a:t>
            </a:r>
            <a:r>
              <a:rPr 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I/O Trait </a:t>
            </a:r>
            <a:r>
              <a:rPr lang="zh-CN" alt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</a:t>
            </a:r>
            <a:endParaRPr lang="en-US" sz="1600" dirty="0"/>
          </a:p>
        </p:txBody>
      </p:sp>
      <p:sp>
        <p:nvSpPr>
          <p:cNvPr id="97" name="AutoShape 7">
            <a:extLst>
              <a:ext uri="{FF2B5EF4-FFF2-40B4-BE49-F238E27FC236}">
                <a16:creationId xmlns:a16="http://schemas.microsoft.com/office/drawing/2014/main" id="{B6EEED54-16F5-2E07-C05A-3A75D26B41DC}"/>
              </a:ext>
            </a:extLst>
          </p:cNvPr>
          <p:cNvSpPr/>
          <p:nvPr/>
        </p:nvSpPr>
        <p:spPr>
          <a:xfrm>
            <a:off x="5004048" y="1419623"/>
            <a:ext cx="3556000" cy="10854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defRPr/>
            </a:pPr>
            <a:r>
              <a:rPr lang="zh-CN" altLang="en-US" sz="1200" b="1" dirty="0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机制说明</a:t>
            </a:r>
            <a:r>
              <a:rPr lang="en-US" sz="1200" b="1" i="0" u="none" strike="noStrike" dirty="0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在现有系统 </a:t>
            </a:r>
            <a:r>
              <a:rPr lang="en-US" altLang="zh-CN" sz="1200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FileLike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虚表上扩展 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个标准 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async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读写方法（如 </a:t>
            </a:r>
            <a:r>
              <a:rPr lang="en-US" altLang="zh-CN" sz="1200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poll_read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altLang="zh-CN" sz="1200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try_write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等）。统一定义底层驱动与 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Worker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交互的规范，解耦核心引擎与具体设备的底层差异。</a:t>
            </a:r>
            <a:endParaRPr lang="en-US" sz="1100" dirty="0"/>
          </a:p>
        </p:txBody>
      </p:sp>
      <p:sp>
        <p:nvSpPr>
          <p:cNvPr id="105" name="AutoShape 3">
            <a:extLst>
              <a:ext uri="{FF2B5EF4-FFF2-40B4-BE49-F238E27FC236}">
                <a16:creationId xmlns:a16="http://schemas.microsoft.com/office/drawing/2014/main" id="{403F3572-764C-3C88-0FF4-F8D5B9C761AC}"/>
              </a:ext>
            </a:extLst>
          </p:cNvPr>
          <p:cNvSpPr/>
          <p:nvPr/>
        </p:nvSpPr>
        <p:spPr>
          <a:xfrm>
            <a:off x="4847739" y="2918149"/>
            <a:ext cx="4104456" cy="1728192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381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" name="AutoShape 6">
            <a:extLst>
              <a:ext uri="{FF2B5EF4-FFF2-40B4-BE49-F238E27FC236}">
                <a16:creationId xmlns:a16="http://schemas.microsoft.com/office/drawing/2014/main" id="{42FC414C-1924-CA68-8F46-630EED5E42FF}"/>
              </a:ext>
            </a:extLst>
          </p:cNvPr>
          <p:cNvSpPr/>
          <p:nvPr/>
        </p:nvSpPr>
        <p:spPr>
          <a:xfrm>
            <a:off x="5019248" y="3015511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统一的外部系统调用接口</a:t>
            </a:r>
            <a:endParaRPr lang="en-US" sz="1600" dirty="0"/>
          </a:p>
        </p:txBody>
      </p:sp>
      <p:sp>
        <p:nvSpPr>
          <p:cNvPr id="107" name="AutoShape 7">
            <a:extLst>
              <a:ext uri="{FF2B5EF4-FFF2-40B4-BE49-F238E27FC236}">
                <a16:creationId xmlns:a16="http://schemas.microsoft.com/office/drawing/2014/main" id="{01D0953C-CE0D-A5A6-FF3B-D5F511C2E96A}"/>
              </a:ext>
            </a:extLst>
          </p:cNvPr>
          <p:cNvSpPr/>
          <p:nvPr/>
        </p:nvSpPr>
        <p:spPr>
          <a:xfrm>
            <a:off x="5019248" y="3422205"/>
            <a:ext cx="3556000" cy="108545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defRPr/>
            </a:pPr>
            <a:r>
              <a:rPr lang="zh-CN" altLang="en-US" sz="1200" b="1" dirty="0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机制说明</a:t>
            </a:r>
            <a:r>
              <a:rPr lang="en-US" sz="1200" b="1" i="0" u="none" strike="noStrike" dirty="0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经由系统调用分发器，承接并分发 </a:t>
            </a:r>
            <a:r>
              <a:rPr lang="en-US" altLang="zh-CN" sz="1200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io_uring_setup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io_uring_enter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 </a:t>
            </a:r>
            <a:r>
              <a:rPr lang="en-US" altLang="zh-CN" sz="1200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io_uring_register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三个接口。对接上游生态语义，保障通用 </a:t>
            </a:r>
            <a:r>
              <a:rPr lang="en-US" altLang="zh-CN" sz="1200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liburing</a:t>
            </a:r>
            <a:r>
              <a:rPr lang="en-US" altLang="zh-CN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应用免修改直接运行。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ED62-94CA-E019-D0D0-98BD8CBD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57B530DC-5649-6CE4-557F-3E354C5BAA1A}"/>
              </a:ext>
            </a:extLst>
          </p:cNvPr>
          <p:cNvGrpSpPr/>
          <p:nvPr/>
        </p:nvGrpSpPr>
        <p:grpSpPr>
          <a:xfrm>
            <a:off x="121249" y="-1"/>
            <a:ext cx="3105743" cy="612528"/>
            <a:chOff x="-47903" y="-1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F6ACE36-A291-CBFE-840D-74668FA7407F}"/>
                </a:ext>
              </a:extLst>
            </p:cNvPr>
            <p:cNvGrpSpPr/>
            <p:nvPr/>
          </p:nvGrpSpPr>
          <p:grpSpPr>
            <a:xfrm rot="16200000" flipV="1">
              <a:off x="629840" y="-629841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DA1A9FF6-774A-0EDA-03F7-6B5A87F2A45E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8E456A1C-37C8-C39E-8EEF-4EF53831AD6B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A8E4AB2-9C78-3A73-613D-36DA6E3182C7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0EA868D7-7D32-7473-5B4E-9806F32A5B14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BB513277-BED7-6089-2C66-EC8B0ED465D5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FE633C07-A101-C3AB-F100-7C5151F5AC51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08E90B1-7883-09A2-D450-F4A7E5BE8EB5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/>
                <a:t>系统调用接口设计</a:t>
              </a:r>
              <a:endParaRPr lang="zh-CN" altLang="en-US" sz="1600" b="1" dirty="0">
                <a:cs typeface="+mn-ea"/>
              </a:endParaRPr>
            </a:p>
          </p:txBody>
        </p:sp>
      </p:grp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8B7FA02-EF3D-AED7-73DE-F14E15053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038480"/>
              </p:ext>
            </p:extLst>
          </p:nvPr>
        </p:nvGraphicFramePr>
        <p:xfrm>
          <a:off x="457200" y="1635646"/>
          <a:ext cx="8229600" cy="2011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48093420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70263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系统调用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职责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60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io_uring_setup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创建 ring fd，分配 SQ/CQ/SQE 共享页，回填 ring offset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773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io_uring_enter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消费 SQE，提交操作，等待完成事件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87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latin typeface="Courier New" panose="02070309020205020404" pitchFamily="49" charset="0"/>
                        </a:rPr>
                        <a:t>io_uring_register</a:t>
                      </a:r>
                      <a:endParaRPr 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注册缓冲区、注册 fd 表、查询支持 opcode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357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518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71FD4DD-B447-572C-FFBC-7A3583CA3907}"/>
              </a:ext>
            </a:extLst>
          </p:cNvPr>
          <p:cNvGrpSpPr/>
          <p:nvPr/>
        </p:nvGrpSpPr>
        <p:grpSpPr>
          <a:xfrm>
            <a:off x="35496" y="-1"/>
            <a:ext cx="3370631" cy="612528"/>
            <a:chOff x="-47903" y="-1"/>
            <a:chExt cx="2016224" cy="61252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6E98F16-2E8A-2426-C01B-FCE04AA5DB26}"/>
                </a:ext>
              </a:extLst>
            </p:cNvPr>
            <p:cNvGrpSpPr/>
            <p:nvPr/>
          </p:nvGrpSpPr>
          <p:grpSpPr>
            <a:xfrm rot="16200000" flipV="1">
              <a:off x="629840" y="-629841"/>
              <a:ext cx="612528" cy="1872208"/>
              <a:chOff x="604102" y="1347614"/>
              <a:chExt cx="1075775" cy="2149930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FE645B4E-ACD5-3EF4-6514-A4DA96EB1E3F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010F7D35-A2BB-92B8-1022-37A4E47507F3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D567515B-1376-A19F-D5A8-672774B8D0DD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9EFEDC67-ED10-F0DE-DF00-B98C80720212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B46C943F-2636-C639-6CBE-14093F7804F2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2C0BF537-A8E4-082B-A21B-F9A05CDF0F17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4F6DB51-BB74-4E4A-EE9C-67D3F02926E3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/>
                <a:t>当前支持的 io_uring 能力</a:t>
              </a:r>
              <a:endParaRPr lang="zh-CN" altLang="en-US" sz="1600" b="1" dirty="0">
                <a:cs typeface="+mn-ea"/>
              </a:endParaRPr>
            </a:p>
          </p:txBody>
        </p:sp>
      </p:grp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2E587AFD-B84C-40FF-1058-7FF5F1FBD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163843"/>
              </p:ext>
            </p:extLst>
          </p:nvPr>
        </p:nvGraphicFramePr>
        <p:xfrm>
          <a:off x="457200" y="1245289"/>
          <a:ext cx="8229600" cy="1737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68504849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4753675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支持内容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00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基础 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READ</a:t>
                      </a:r>
                      <a:r>
                        <a:rPr lang="zh-CN"/>
                        <a:t>、</a:t>
                      </a:r>
                      <a:r>
                        <a:rPr lang="zh-CN"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zh-CN"/>
                        <a:t>、</a:t>
                      </a:r>
                      <a:r>
                        <a:rPr lang="zh-CN">
                          <a:latin typeface="Courier New" panose="02070309020205020404" pitchFamily="49" charset="0"/>
                        </a:rPr>
                        <a:t>READV</a:t>
                      </a:r>
                      <a:r>
                        <a:rPr lang="zh-CN"/>
                        <a:t>、</a:t>
                      </a:r>
                      <a:r>
                        <a:rPr lang="zh-CN">
                          <a:latin typeface="Courier New" panose="02070309020205020404" pitchFamily="49" charset="0"/>
                        </a:rPr>
                        <a:t>WRITEV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62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网络 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ACCEPT</a:t>
                      </a:r>
                      <a:r>
                        <a:rPr lang="zh-CN"/>
                        <a:t>、</a:t>
                      </a:r>
                      <a:r>
                        <a:rPr lang="zh-CN">
                          <a:latin typeface="Courier New" panose="02070309020205020404" pitchFamily="49" charset="0"/>
                        </a:rPr>
                        <a:t>SEND</a:t>
                      </a:r>
                      <a:r>
                        <a:rPr lang="zh-CN"/>
                        <a:t>、</a:t>
                      </a:r>
                      <a:r>
                        <a:rPr lang="zh-CN">
                          <a:latin typeface="Courier New" panose="02070309020205020404" pitchFamily="49" charset="0"/>
                        </a:rPr>
                        <a:t>RECV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868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事件与资源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latin typeface="Courier New" panose="02070309020205020404" pitchFamily="49" charset="0"/>
                        </a:rPr>
                        <a:t>POLL_ADD</a:t>
                      </a:r>
                      <a:r>
                        <a:rPr lang="zh-CN" dirty="0"/>
                        <a:t>、</a:t>
                      </a:r>
                      <a:r>
                        <a:rPr lang="zh-CN" dirty="0">
                          <a:latin typeface="Courier New" panose="02070309020205020404" pitchFamily="49" charset="0"/>
                        </a:rPr>
                        <a:t>POLL_REMOVE</a:t>
                      </a:r>
                      <a:r>
                        <a:rPr lang="zh-CN" dirty="0"/>
                        <a:t>、</a:t>
                      </a:r>
                      <a:r>
                        <a:rPr lang="zh-CN" dirty="0">
                          <a:latin typeface="Courier New" panose="02070309020205020404" pitchFamily="49" charset="0"/>
                        </a:rPr>
                        <a:t>TIMEOUT</a:t>
                      </a:r>
                      <a:r>
                        <a:rPr lang="zh-CN" dirty="0"/>
                        <a:t>、注册缓冲区、注册文件表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190113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043E4214-C081-7CB6-CB3B-3584B29FD2FC}"/>
              </a:ext>
            </a:extLst>
          </p:cNvPr>
          <p:cNvSpPr txBox="1"/>
          <p:nvPr/>
        </p:nvSpPr>
        <p:spPr>
          <a:xfrm>
            <a:off x="755576" y="3723878"/>
            <a:ext cx="7632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/>
              <a:t>支持 13 个 I/O opcode + 7 个 register opcode，包括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REGISTER_FILES</a:t>
            </a:r>
            <a:r>
              <a:rPr lang="zh-CN" altLang="zh-CN" sz="1600" dirty="0"/>
              <a:t>、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IOSQE_FIXED_FILE</a:t>
            </a:r>
            <a:r>
              <a:rPr lang="zh-CN" altLang="zh-CN" sz="1600" dirty="0"/>
              <a:t>、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FAST_POLL</a:t>
            </a:r>
            <a:r>
              <a:rPr lang="zh-CN" altLang="zh-CN" sz="1600" dirty="0"/>
              <a:t> 兼容声明等。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40514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CE67C-895A-AF22-121D-247A90A4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AutoShape 3">
            <a:extLst>
              <a:ext uri="{FF2B5EF4-FFF2-40B4-BE49-F238E27FC236}">
                <a16:creationId xmlns:a16="http://schemas.microsoft.com/office/drawing/2014/main" id="{FB8655C4-29E5-4A39-6E8D-86F659AB07E1}"/>
              </a:ext>
            </a:extLst>
          </p:cNvPr>
          <p:cNvSpPr/>
          <p:nvPr/>
        </p:nvSpPr>
        <p:spPr>
          <a:xfrm>
            <a:off x="6434810" y="612525"/>
            <a:ext cx="2566833" cy="3759425"/>
          </a:xfrm>
          <a:prstGeom prst="roundRect">
            <a:avLst>
              <a:gd name="adj" fmla="val 4615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62" name="AutoShape 7">
            <a:extLst>
              <a:ext uri="{FF2B5EF4-FFF2-40B4-BE49-F238E27FC236}">
                <a16:creationId xmlns:a16="http://schemas.microsoft.com/office/drawing/2014/main" id="{9FCC96E0-675A-A514-D30C-8F8FA50F5F8E}"/>
              </a:ext>
            </a:extLst>
          </p:cNvPr>
          <p:cNvSpPr/>
          <p:nvPr/>
        </p:nvSpPr>
        <p:spPr>
          <a:xfrm>
            <a:off x="6516216" y="1090418"/>
            <a:ext cx="2419842" cy="2035067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A45AD8B3-4B3C-1DDE-51DC-DFB67297B4C1}"/>
              </a:ext>
            </a:extLst>
          </p:cNvPr>
          <p:cNvSpPr txBox="1"/>
          <p:nvPr/>
        </p:nvSpPr>
        <p:spPr>
          <a:xfrm>
            <a:off x="6437342" y="1111911"/>
            <a:ext cx="2547315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b="1" dirty="0"/>
              <a:t>功能 · FEATURE</a:t>
            </a:r>
            <a:endParaRPr lang="en-US" altLang="zh-CN" sz="1400" b="1" dirty="0"/>
          </a:p>
          <a:p>
            <a:endParaRPr lang="zh-CN" altLang="zh-CN" sz="8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100" dirty="0"/>
              <a:t>物理映射：利用 sys_mmap 将连续物理帧直接映射至用户页表，实现双端视图复用。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100" dirty="0"/>
              <a:t>对齐开辟：精确划分三块独立区域，分别承载 SQ提交环、CQ完成环 和 SQE项数组。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100" dirty="0"/>
              <a:t>消除系统调用：打通双端无锁读写物理通道，用户态收割 CQE 达成零系统调用开销。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0D70304-49B3-2424-B084-89039D72E9E9}"/>
              </a:ext>
            </a:extLst>
          </p:cNvPr>
          <p:cNvGrpSpPr/>
          <p:nvPr/>
        </p:nvGrpSpPr>
        <p:grpSpPr>
          <a:xfrm>
            <a:off x="-396552" y="-1"/>
            <a:ext cx="5608324" cy="612528"/>
            <a:chOff x="-47903" y="-1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A1432E8-E3E1-32F4-CD82-1B44CB11A984}"/>
                </a:ext>
              </a:extLst>
            </p:cNvPr>
            <p:cNvGrpSpPr/>
            <p:nvPr/>
          </p:nvGrpSpPr>
          <p:grpSpPr>
            <a:xfrm rot="16200000" flipV="1">
              <a:off x="629840" y="-629841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F9A511FF-6CBD-A31D-8629-9F2D397A0C01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77439360-9065-39B7-E97B-8F8AC333D010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7EAB7B6-21E5-D50F-9712-B5E44B712165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6BB74A7-7BC6-EE59-761F-99067384A0BA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CA0B6A75-5B31-6B0F-2D4F-D9C90900FF16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73E76812-2EAB-3925-291D-ABAADE8678C9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A3108D7-6CE3-B023-9817-DF1ACEC53DF8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核心实现细节：</a:t>
              </a:r>
              <a:r>
                <a:rPr lang="en-US" altLang="zh-CN" sz="1600" dirty="0"/>
                <a:t>Trait</a:t>
              </a:r>
              <a:r>
                <a:rPr lang="zh-CN" altLang="en-US" sz="1600" dirty="0"/>
                <a:t>与关键结构设计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08" name="AutoShape 3">
            <a:extLst>
              <a:ext uri="{FF2B5EF4-FFF2-40B4-BE49-F238E27FC236}">
                <a16:creationId xmlns:a16="http://schemas.microsoft.com/office/drawing/2014/main" id="{630423BA-A285-EC6E-A369-CA295AA3E6E1}"/>
              </a:ext>
            </a:extLst>
          </p:cNvPr>
          <p:cNvSpPr/>
          <p:nvPr/>
        </p:nvSpPr>
        <p:spPr>
          <a:xfrm>
            <a:off x="142357" y="2801122"/>
            <a:ext cx="6258272" cy="2146892"/>
          </a:xfrm>
          <a:prstGeom prst="roundRect">
            <a:avLst>
              <a:gd name="adj" fmla="val 4615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" name="AutoShape 6">
            <a:extLst>
              <a:ext uri="{FF2B5EF4-FFF2-40B4-BE49-F238E27FC236}">
                <a16:creationId xmlns:a16="http://schemas.microsoft.com/office/drawing/2014/main" id="{FB6A91BA-6295-BDD4-5E4A-5737F9ABD664}"/>
              </a:ext>
            </a:extLst>
          </p:cNvPr>
          <p:cNvSpPr/>
          <p:nvPr/>
        </p:nvSpPr>
        <p:spPr>
          <a:xfrm>
            <a:off x="176538" y="2825810"/>
            <a:ext cx="425144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600" b="1" dirty="0" err="1"/>
              <a:t>SharedPages</a:t>
            </a:r>
            <a:r>
              <a:rPr lang="en-US" altLang="zh-CN" sz="1600" b="1" dirty="0"/>
              <a:t> (SQ / CQ / SQE </a:t>
            </a:r>
            <a:r>
              <a:rPr lang="zh-CN" altLang="en-US" sz="1600" b="1" dirty="0"/>
              <a:t>环区</a:t>
            </a:r>
            <a:r>
              <a:rPr lang="en-US" altLang="zh-CN" sz="1600" b="1" dirty="0"/>
              <a:t>)</a:t>
            </a:r>
            <a:endParaRPr lang="en-US" sz="1100" b="1" dirty="0"/>
          </a:p>
        </p:txBody>
      </p:sp>
      <p:sp>
        <p:nvSpPr>
          <p:cNvPr id="116" name="AutoShape 7">
            <a:extLst>
              <a:ext uri="{FF2B5EF4-FFF2-40B4-BE49-F238E27FC236}">
                <a16:creationId xmlns:a16="http://schemas.microsoft.com/office/drawing/2014/main" id="{D080A8C1-DAD7-93D4-790D-69C302503BD8}"/>
              </a:ext>
            </a:extLst>
          </p:cNvPr>
          <p:cNvSpPr/>
          <p:nvPr/>
        </p:nvSpPr>
        <p:spPr>
          <a:xfrm>
            <a:off x="207941" y="3219822"/>
            <a:ext cx="6120680" cy="938719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56BDC796-0519-6184-CEF3-4F94D01EA2D0}"/>
              </a:ext>
            </a:extLst>
          </p:cNvPr>
          <p:cNvSpPr txBox="1"/>
          <p:nvPr/>
        </p:nvSpPr>
        <p:spPr>
          <a:xfrm>
            <a:off x="141685" y="4227934"/>
            <a:ext cx="618693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b="1" dirty="0"/>
              <a:t>作用 · ROLE</a:t>
            </a:r>
            <a:endParaRPr lang="en-US" altLang="zh-CN" sz="1400" b="1" dirty="0"/>
          </a:p>
          <a:p>
            <a:endParaRPr lang="zh-CN" altLang="zh-CN" sz="800" b="1" dirty="0"/>
          </a:p>
          <a:p>
            <a:r>
              <a:rPr lang="zh-CN" altLang="en-US" sz="1100" b="1" dirty="0"/>
              <a:t>生命周期保活</a:t>
            </a:r>
            <a:r>
              <a:rPr lang="zh-CN" altLang="en-US" sz="1100" dirty="0"/>
              <a:t>：利用 </a:t>
            </a:r>
            <a:r>
              <a:rPr lang="en-US" altLang="zh-CN" sz="1100" dirty="0"/>
              <a:t>Arc </a:t>
            </a:r>
            <a:r>
              <a:rPr lang="zh-CN" altLang="en-US" sz="1100" dirty="0"/>
              <a:t>机制，确保调用者关闭 </a:t>
            </a:r>
            <a:r>
              <a:rPr lang="en-US" altLang="zh-CN" sz="1100" dirty="0" err="1"/>
              <a:t>fd</a:t>
            </a:r>
            <a:r>
              <a:rPr lang="en-US" altLang="zh-CN" sz="1100" dirty="0"/>
              <a:t> </a:t>
            </a:r>
            <a:r>
              <a:rPr lang="zh-CN" altLang="en-US" sz="1100" dirty="0"/>
              <a:t>后，运行中的异步操作仍能安全回填</a:t>
            </a:r>
            <a:r>
              <a:rPr lang="zh-CN" altLang="zh-CN" sz="1100" dirty="0"/>
              <a:t>。</a:t>
            </a:r>
          </a:p>
        </p:txBody>
      </p:sp>
      <p:sp>
        <p:nvSpPr>
          <p:cNvPr id="141" name="AutoShape 3">
            <a:extLst>
              <a:ext uri="{FF2B5EF4-FFF2-40B4-BE49-F238E27FC236}">
                <a16:creationId xmlns:a16="http://schemas.microsoft.com/office/drawing/2014/main" id="{81C5A12E-CE0C-2FE5-F3C2-8298D0CFB2EF}"/>
              </a:ext>
            </a:extLst>
          </p:cNvPr>
          <p:cNvSpPr/>
          <p:nvPr/>
        </p:nvSpPr>
        <p:spPr>
          <a:xfrm>
            <a:off x="142357" y="634018"/>
            <a:ext cx="6258272" cy="2146892"/>
          </a:xfrm>
          <a:prstGeom prst="roundRect">
            <a:avLst>
              <a:gd name="adj" fmla="val 4615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" name="AutoShape 6">
            <a:extLst>
              <a:ext uri="{FF2B5EF4-FFF2-40B4-BE49-F238E27FC236}">
                <a16:creationId xmlns:a16="http://schemas.microsoft.com/office/drawing/2014/main" id="{7882964C-A313-5554-3FC5-2CF2370632BB}"/>
              </a:ext>
            </a:extLst>
          </p:cNvPr>
          <p:cNvSpPr/>
          <p:nvPr/>
        </p:nvSpPr>
        <p:spPr>
          <a:xfrm>
            <a:off x="176538" y="658706"/>
            <a:ext cx="2225824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zh-CN" sz="1600" b="1" dirty="0"/>
              <a:t>AsyncFileLike</a:t>
            </a:r>
            <a:endParaRPr lang="en-US" sz="1100" b="1" dirty="0"/>
          </a:p>
        </p:txBody>
      </p:sp>
      <p:sp>
        <p:nvSpPr>
          <p:cNvPr id="143" name="AutoShape 7">
            <a:extLst>
              <a:ext uri="{FF2B5EF4-FFF2-40B4-BE49-F238E27FC236}">
                <a16:creationId xmlns:a16="http://schemas.microsoft.com/office/drawing/2014/main" id="{84F342AF-BCA0-8838-CEB6-495F1845F4B2}"/>
              </a:ext>
            </a:extLst>
          </p:cNvPr>
          <p:cNvSpPr/>
          <p:nvPr/>
        </p:nvSpPr>
        <p:spPr>
          <a:xfrm>
            <a:off x="207941" y="1052718"/>
            <a:ext cx="6120680" cy="938719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9BF71D59-DF5C-21D4-A3B7-5F9988F533F3}"/>
              </a:ext>
            </a:extLst>
          </p:cNvPr>
          <p:cNvSpPr txBox="1"/>
          <p:nvPr/>
        </p:nvSpPr>
        <p:spPr>
          <a:xfrm>
            <a:off x="141685" y="1052718"/>
            <a:ext cx="625894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400" b="1" dirty="0"/>
              <a:t>功能 · FEATURE</a:t>
            </a:r>
            <a:endParaRPr lang="en-US" altLang="zh-CN" sz="1400" b="1" dirty="0"/>
          </a:p>
          <a:p>
            <a:pPr>
              <a:buNone/>
            </a:pPr>
            <a:endParaRPr lang="zh-CN" altLang="zh-CN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100" b="1" dirty="0"/>
              <a:t>扩展异步方法</a:t>
            </a:r>
            <a:r>
              <a:rPr lang="zh-CN" altLang="zh-CN" sz="1100" dirty="0"/>
              <a:t>：在 </a:t>
            </a:r>
            <a:r>
              <a:rPr lang="zh-CN" altLang="zh-CN" sz="1100" dirty="0">
                <a:latin typeface="Courier New" panose="02070309020205020404" pitchFamily="49" charset="0"/>
              </a:rPr>
              <a:t>FileLike</a:t>
            </a:r>
            <a:r>
              <a:rPr lang="zh-CN" altLang="zh-CN" sz="1100" dirty="0"/>
              <a:t> 虚表上扩展 6 个标准 async 读写接口，横向屏蔽具体设备差异。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100" b="1" dirty="0"/>
              <a:t>定向注册事件</a:t>
            </a:r>
            <a:r>
              <a:rPr lang="zh-CN" altLang="zh-CN" sz="1100" dirty="0"/>
              <a:t>：操作未就绪返回 </a:t>
            </a:r>
            <a:r>
              <a:rPr lang="zh-CN" altLang="zh-CN" sz="1100" dirty="0">
                <a:latin typeface="Courier New" panose="02070309020205020404" pitchFamily="49" charset="0"/>
              </a:rPr>
              <a:t>Pending</a:t>
            </a:r>
            <a:r>
              <a:rPr lang="zh-CN" altLang="zh-CN" sz="1100" dirty="0"/>
              <a:t> 时，直接将 Worker 上下文注册到底层驱动 </a:t>
            </a:r>
            <a:r>
              <a:rPr lang="zh-CN" altLang="zh-CN" sz="1100" dirty="0">
                <a:latin typeface="Courier New" panose="02070309020205020404" pitchFamily="49" charset="0"/>
              </a:rPr>
              <a:t>PollSet</a:t>
            </a:r>
            <a:r>
              <a:rPr lang="zh-CN" altLang="zh-CN" sz="1100" dirty="0"/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100" b="1" dirty="0"/>
              <a:t>差异策略适配</a:t>
            </a:r>
            <a:r>
              <a:rPr lang="zh-CN" altLang="zh-CN" sz="1100" dirty="0"/>
              <a:t>：对管道实施原生异步重写，对网络 Socket 内聚封装并兼容现有 </a:t>
            </a:r>
            <a:r>
              <a:rPr lang="zh-CN" altLang="zh-CN" sz="1100" dirty="0">
                <a:latin typeface="Courier New" panose="02070309020205020404" pitchFamily="49" charset="0"/>
              </a:rPr>
              <a:t>smoltcp</a:t>
            </a:r>
            <a:r>
              <a:rPr lang="zh-CN" altLang="zh-CN" sz="1100" dirty="0"/>
              <a:t>。</a:t>
            </a: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7BD5E7D6-1703-98A2-35B0-FF6AEAC469E6}"/>
              </a:ext>
            </a:extLst>
          </p:cNvPr>
          <p:cNvSpPr txBox="1"/>
          <p:nvPr/>
        </p:nvSpPr>
        <p:spPr>
          <a:xfrm>
            <a:off x="141685" y="2060830"/>
            <a:ext cx="618693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b="1" dirty="0"/>
              <a:t>作用 · ROLE</a:t>
            </a:r>
            <a:endParaRPr lang="en-US" altLang="zh-CN" sz="1400" b="1" dirty="0"/>
          </a:p>
          <a:p>
            <a:endParaRPr lang="zh-CN" altLang="zh-CN" sz="800" b="1" dirty="0"/>
          </a:p>
          <a:p>
            <a:r>
              <a:rPr lang="zh-CN" altLang="zh-CN" sz="1100" b="1" dirty="0"/>
              <a:t>消除分支</a:t>
            </a:r>
            <a:r>
              <a:rPr lang="zh-CN" altLang="zh-CN" sz="1100" dirty="0"/>
              <a:t>：</a:t>
            </a:r>
            <a:r>
              <a:rPr lang="zh-CN" altLang="en-US" sz="1100" dirty="0"/>
              <a:t>消灭调度层内的 </a:t>
            </a:r>
            <a:r>
              <a:rPr lang="en-US" altLang="zh-CN" sz="1100" dirty="0"/>
              <a:t>match </a:t>
            </a:r>
            <a:r>
              <a:rPr lang="en-US" altLang="zh-CN" sz="1100" dirty="0" err="1"/>
              <a:t>file_type</a:t>
            </a:r>
            <a:r>
              <a:rPr lang="en-US" altLang="zh-CN" sz="1100" dirty="0"/>
              <a:t> </a:t>
            </a:r>
            <a:r>
              <a:rPr lang="zh-CN" altLang="en-US" sz="1100" dirty="0"/>
              <a:t>条件分支，保障新驱动低成本接入。</a:t>
            </a:r>
            <a:endParaRPr lang="zh-CN" altLang="zh-CN" sz="1100" dirty="0"/>
          </a:p>
        </p:txBody>
      </p:sp>
      <p:sp>
        <p:nvSpPr>
          <p:cNvPr id="149" name="AutoShape 6">
            <a:extLst>
              <a:ext uri="{FF2B5EF4-FFF2-40B4-BE49-F238E27FC236}">
                <a16:creationId xmlns:a16="http://schemas.microsoft.com/office/drawing/2014/main" id="{B1AB4E1C-CB3A-8729-6406-24D96CC25606}"/>
              </a:ext>
            </a:extLst>
          </p:cNvPr>
          <p:cNvSpPr/>
          <p:nvPr/>
        </p:nvSpPr>
        <p:spPr>
          <a:xfrm>
            <a:off x="6306616" y="671718"/>
            <a:ext cx="2225824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600" b="1" dirty="0" err="1"/>
              <a:t>PinnedUserBuf</a:t>
            </a:r>
            <a:endParaRPr lang="en-US" sz="1100" b="1" dirty="0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342C7442-E11F-8BFD-C0DA-6766E5BD716F}"/>
              </a:ext>
            </a:extLst>
          </p:cNvPr>
          <p:cNvSpPr txBox="1"/>
          <p:nvPr/>
        </p:nvSpPr>
        <p:spPr>
          <a:xfrm>
            <a:off x="161876" y="3206810"/>
            <a:ext cx="616674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b="1" dirty="0"/>
              <a:t>功能 · FEATURE</a:t>
            </a:r>
            <a:endParaRPr lang="en-US" altLang="zh-CN" sz="1400" b="1" dirty="0"/>
          </a:p>
          <a:p>
            <a:endParaRPr lang="zh-CN" altLang="zh-CN" sz="8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100" b="1" dirty="0"/>
              <a:t>物理页表直接映射</a:t>
            </a:r>
            <a:r>
              <a:rPr lang="zh-CN" altLang="zh-CN" sz="1100" dirty="0"/>
              <a:t>：</a:t>
            </a:r>
            <a:r>
              <a:rPr lang="zh-CN" altLang="en-US" sz="1100" dirty="0"/>
              <a:t>利用 </a:t>
            </a:r>
            <a:r>
              <a:rPr lang="en-US" altLang="zh-CN" sz="1100" dirty="0" err="1"/>
              <a:t>sys_mmap</a:t>
            </a:r>
            <a:r>
              <a:rPr lang="en-US" altLang="zh-CN" sz="1100" dirty="0"/>
              <a:t> </a:t>
            </a:r>
            <a:r>
              <a:rPr lang="zh-CN" altLang="en-US" sz="1100" dirty="0"/>
              <a:t>将连续物理帧直接映射至用户页表，实现双端视图复用。</a:t>
            </a:r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100" b="1" dirty="0"/>
              <a:t>独立对齐开辟环区</a:t>
            </a:r>
            <a:r>
              <a:rPr lang="zh-CN" altLang="zh-CN" sz="1100" dirty="0"/>
              <a:t>：</a:t>
            </a:r>
            <a:r>
              <a:rPr lang="zh-CN" altLang="en-US" sz="1100" dirty="0"/>
              <a:t>精确划分三块独立区域，分别承载 </a:t>
            </a:r>
            <a:r>
              <a:rPr lang="en-US" altLang="zh-CN" sz="1100" dirty="0"/>
              <a:t>SQ</a:t>
            </a:r>
            <a:r>
              <a:rPr lang="zh-CN" altLang="en-US" sz="1100" dirty="0"/>
              <a:t>提交环、</a:t>
            </a:r>
            <a:r>
              <a:rPr lang="en-US" altLang="zh-CN" sz="1100" dirty="0"/>
              <a:t>CQ</a:t>
            </a:r>
            <a:r>
              <a:rPr lang="zh-CN" altLang="en-US" sz="1100" dirty="0"/>
              <a:t>完成环 和 </a:t>
            </a:r>
            <a:r>
              <a:rPr lang="en-US" altLang="zh-CN" sz="1100" dirty="0"/>
              <a:t>SQE</a:t>
            </a:r>
            <a:r>
              <a:rPr lang="zh-CN" altLang="en-US" sz="1100" dirty="0"/>
              <a:t>项数组</a:t>
            </a:r>
            <a:r>
              <a:rPr lang="zh-CN" altLang="zh-CN" sz="1100" dirty="0"/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100" b="1" dirty="0"/>
              <a:t>消除控制层系统调用</a:t>
            </a:r>
            <a:r>
              <a:rPr lang="zh-CN" altLang="zh-CN" sz="1100" dirty="0"/>
              <a:t>：</a:t>
            </a:r>
            <a:r>
              <a:rPr lang="zh-CN" altLang="en-US" sz="1100" dirty="0"/>
              <a:t>双端无锁读写物理通道，用户态收割 </a:t>
            </a:r>
            <a:r>
              <a:rPr lang="en-US" altLang="zh-CN" sz="1100" dirty="0"/>
              <a:t>CQE </a:t>
            </a:r>
            <a:r>
              <a:rPr lang="zh-CN" altLang="en-US" sz="1100" dirty="0"/>
              <a:t>减少系统调用开销</a:t>
            </a:r>
            <a:r>
              <a:rPr lang="zh-CN" altLang="zh-CN" sz="1100" b="1" dirty="0"/>
              <a:t>。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300C39F9-0E12-8B45-F63B-D69678907E3F}"/>
              </a:ext>
            </a:extLst>
          </p:cNvPr>
          <p:cNvSpPr txBox="1"/>
          <p:nvPr/>
        </p:nvSpPr>
        <p:spPr>
          <a:xfrm>
            <a:off x="6434810" y="3412903"/>
            <a:ext cx="2566833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400" b="1" dirty="0"/>
              <a:t>作用 · ROLE</a:t>
            </a:r>
          </a:p>
          <a:p>
            <a:r>
              <a:rPr lang="zh-CN" altLang="en-US" sz="1100" dirty="0"/>
              <a:t>数据零拷贝：使 </a:t>
            </a:r>
            <a:r>
              <a:rPr lang="en-US" altLang="zh-CN" sz="1100" dirty="0"/>
              <a:t>Worker </a:t>
            </a:r>
            <a:r>
              <a:rPr lang="zh-CN" altLang="en-US" sz="1100" dirty="0"/>
              <a:t>脱离用户进程虚拟地址空间依然能读写内存，剥离昂贵的边界安全检查。</a:t>
            </a:r>
            <a:endParaRPr lang="zh-CN" altLang="zh-CN" sz="1100" dirty="0"/>
          </a:p>
        </p:txBody>
      </p:sp>
    </p:spTree>
    <p:extLst>
      <p:ext uri="{BB962C8B-B14F-4D97-AF65-F5344CB8AC3E}">
        <p14:creationId xmlns:p14="http://schemas.microsoft.com/office/powerpoint/2010/main" val="4036539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26C8-8096-8739-45B8-039AA42B7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A569E99-E7DC-6652-5BDA-0E93E9D6B1CD}"/>
              </a:ext>
            </a:extLst>
          </p:cNvPr>
          <p:cNvGrpSpPr/>
          <p:nvPr/>
        </p:nvGrpSpPr>
        <p:grpSpPr>
          <a:xfrm>
            <a:off x="-324544" y="0"/>
            <a:ext cx="56166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98D088E-E5E4-750D-37F3-6530DFFD0CD4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F5F47BE6-A707-620C-22B9-B10AD2285E5E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F06C54FE-205A-583B-D11B-CD4C8D342D5F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7495A06-F585-AE25-8D7B-81B14272501B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BD5186A1-8B23-7379-987D-8FDF5F02B47B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D2069B3D-9466-2DE9-6F63-969B1A473891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E121475F-DB06-8C25-8D50-76EC73C07B3B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14F0272-0838-8AAE-B94A-38618A65254A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任务调度：</a:t>
              </a:r>
              <a:r>
                <a:rPr lang="zh-CN" altLang="zh-CN" sz="1600" b="1" dirty="0"/>
                <a:t>I/O 调度时序与断点恢复示例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23" name="图形 22">
            <a:extLst>
              <a:ext uri="{FF2B5EF4-FFF2-40B4-BE49-F238E27FC236}">
                <a16:creationId xmlns:a16="http://schemas.microsoft.com/office/drawing/2014/main" id="{A62387FF-5BED-3973-9884-86BDCEE9E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69"/>
          <a:stretch>
            <a:fillRect/>
          </a:stretch>
        </p:blipFill>
        <p:spPr>
          <a:xfrm>
            <a:off x="1293019" y="612529"/>
            <a:ext cx="6557963" cy="475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24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7865A-FAD8-B8C8-F4FD-040DA835F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445249B-03F4-7DBF-FA04-3C68B29101BD}"/>
              </a:ext>
            </a:extLst>
          </p:cNvPr>
          <p:cNvGrpSpPr/>
          <p:nvPr/>
        </p:nvGrpSpPr>
        <p:grpSpPr>
          <a:xfrm>
            <a:off x="231155" y="0"/>
            <a:ext cx="2123728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916FBA8-4F5A-B3F0-1DEA-5E081363720D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1932ACB4-D80A-2377-2DEE-A108E6004637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35C5BAF-B049-10FA-12B5-80D5D68F98D8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642767A-67E5-6E01-2807-4A2762164C8A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038CD418-55B4-44E0-2D07-A5E592EE2153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B5F8080D-63E2-E8D5-9DC0-1E30B5BA083E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7A22F3CC-9A4A-EC17-C4A7-7F53AB18485B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D3D5CA4-DF16-D05F-B892-B58600A85FA2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/>
                <a:t>性能</a:t>
              </a:r>
              <a:r>
                <a:rPr lang="zh-CN" altLang="en-US" sz="1600" dirty="0"/>
                <a:t>体系</a:t>
              </a:r>
              <a:endParaRPr lang="zh-CN" altLang="en-US" sz="1600" b="1" dirty="0">
                <a:cs typeface="+mn-ea"/>
              </a:endParaRPr>
            </a:p>
          </p:txBody>
        </p:sp>
      </p:grp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D891771-6C4E-C74E-5579-CCD79D763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503325"/>
              </p:ext>
            </p:extLst>
          </p:nvPr>
        </p:nvGraphicFramePr>
        <p:xfrm>
          <a:off x="806640" y="1465302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3921154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88112796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688996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测试层级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内容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结果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029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自建测试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NOP、pipe、poll、file、timeout、accept、iodepth、echo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15/15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492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tokio-rs io-uring-test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NOP、batch、TCP、READV/WRITEV、registered buffers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10/11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140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真实 liburing 测试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setup、enter、poll、fsync、poll-cancel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5/5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989990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D55ECF79-D93A-8C8E-6D7F-1328B85E8842}"/>
              </a:ext>
            </a:extLst>
          </p:cNvPr>
          <p:cNvSpPr txBox="1"/>
          <p:nvPr/>
        </p:nvSpPr>
        <p:spPr>
          <a:xfrm>
            <a:off x="778859" y="535479"/>
            <a:ext cx="5221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所有测试在 StarryOS RISC-V QEMU virt</a:t>
            </a:r>
            <a:r>
              <a:rPr lang="zh-CN" altLang="en-US" sz="1200" dirty="0"/>
              <a:t>，</a:t>
            </a:r>
            <a:r>
              <a:rPr lang="zh-CN" altLang="zh-CN" sz="1200" dirty="0"/>
              <a:t>SMP=1 环境下运行。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15778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F30C-22F4-C645-03BC-35FC2CB2D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CF8B57F-EEB6-8F56-46B6-76F980FD3DE0}"/>
              </a:ext>
            </a:extLst>
          </p:cNvPr>
          <p:cNvGrpSpPr/>
          <p:nvPr/>
        </p:nvGrpSpPr>
        <p:grpSpPr>
          <a:xfrm>
            <a:off x="107504" y="0"/>
            <a:ext cx="2972693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A5529CD-AF96-3476-D039-944AF66F0042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A6E0EA4D-DBF8-EECC-F79D-051010F670F7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EC942071-3E5E-07F6-C84B-F77F8A09F57C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72CFFA83-CECF-E6D7-2C71-E9DBFDE77A0F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E6FF235B-8415-1049-ABCC-AD2DB8254436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A5539459-7ED3-B26B-5008-7E0E441526C8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287F791C-E4E9-66B5-1D60-191901A943C7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81298E5-4487-3892-E3D0-313E8A6614BA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/>
                <a:t>持续吞吐实验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C106C526-C6E6-8FE6-3F7F-C234EFC3C667}"/>
              </a:ext>
            </a:extLst>
          </p:cNvPr>
          <p:cNvSpPr txBox="1"/>
          <p:nvPr/>
        </p:nvSpPr>
        <p:spPr>
          <a:xfrm>
            <a:off x="778859" y="535479"/>
            <a:ext cx="5221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持续吞吐：异步背压带来的可靠性优势</a:t>
            </a:r>
            <a:endParaRPr lang="zh-CN" altLang="en-US" sz="1200" dirty="0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F3A27EC-A9E3-20E6-9C39-1237A4D7E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04706"/>
              </p:ext>
            </p:extLst>
          </p:nvPr>
        </p:nvGraphicFramePr>
        <p:xfrm>
          <a:off x="778859" y="1419622"/>
          <a:ext cx="8229600" cy="2103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389487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23535078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51614136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6043749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99835753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24827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io_uring req/s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io_uring 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epoll req/s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epoll 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52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1886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10/10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804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10/10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762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1252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20/20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20/20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743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1137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30/30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27/30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27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40/40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5/40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400725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09874451-9706-C948-582E-34EB5FEF8C86}"/>
              </a:ext>
            </a:extLst>
          </p:cNvPr>
          <p:cNvSpPr txBox="1"/>
          <p:nvPr/>
        </p:nvSpPr>
        <p:spPr>
          <a:xfrm>
            <a:off x="583330" y="3740762"/>
            <a:ext cx="79491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400" dirty="0">
                <a:solidFill>
                  <a:srgbClr val="000000"/>
                </a:solidFill>
                <a:effectLst/>
              </a:rPr>
              <a:t>结论：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effectLst/>
              </a:rPr>
              <a:t>低并发下 io_uring 有 1.2–2.5× 吞吐优势</a:t>
            </a:r>
            <a:r>
              <a:rPr lang="zh-CN" altLang="en-US" sz="1400" dirty="0">
                <a:solidFill>
                  <a:srgbClr val="000000"/>
                </a:solidFill>
              </a:rPr>
              <a:t>；</a:t>
            </a:r>
            <a:r>
              <a:rPr lang="zh-CN" altLang="zh-CN" sz="1400" dirty="0">
                <a:solidFill>
                  <a:srgbClr val="000000"/>
                </a:solidFill>
                <a:effectLst/>
              </a:rPr>
              <a:t>高并发下两者都接近单核 QEMU 吞吐上限；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effectLst/>
              </a:rPr>
              <a:t>但 io_uring 始终 100% 可靠，epoll 在 N≥30 出现大量 RST；根因是同步 write 触发 TCP 流控超时，而 io_uring 异步 SEND 自带背压。</a:t>
            </a:r>
          </a:p>
        </p:txBody>
      </p:sp>
    </p:spTree>
    <p:extLst>
      <p:ext uri="{BB962C8B-B14F-4D97-AF65-F5344CB8AC3E}">
        <p14:creationId xmlns:p14="http://schemas.microsoft.com/office/powerpoint/2010/main" val="1931742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825A-AC3C-0DBC-066C-C4C6E618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C9506F01-0D88-485D-EDC0-74D5192520F0}"/>
              </a:ext>
            </a:extLst>
          </p:cNvPr>
          <p:cNvGrpSpPr/>
          <p:nvPr/>
        </p:nvGrpSpPr>
        <p:grpSpPr>
          <a:xfrm>
            <a:off x="107504" y="0"/>
            <a:ext cx="2972693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6BBFAB5-C610-2011-E652-3E286662C0F7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FCE2F650-E74E-A01D-1D60-4759BDFC405B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BCC4E24C-1699-F00C-532A-40207E2158EF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C35B13B9-0110-57F4-09DD-834101240C3B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5329978F-4E1F-1424-A335-04CFE2955606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2492248B-2D9B-0BA5-0C73-18DADDBFDCDD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5C9CF052-648A-0C63-D6F8-FC08E8C9E4DA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A6F778C-48AE-7D96-6A35-F7491ED58DD7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dirty="0"/>
                <a:t>测试方法与局限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F0E6087F-07F8-9902-3429-E7B4BEAB76CE}"/>
              </a:ext>
            </a:extLst>
          </p:cNvPr>
          <p:cNvSpPr txBox="1"/>
          <p:nvPr/>
        </p:nvSpPr>
        <p:spPr>
          <a:xfrm>
            <a:off x="778859" y="535479"/>
            <a:ext cx="5221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如何看待这些测试结果</a:t>
            </a:r>
            <a:endParaRPr lang="zh-CN" altLang="en-US" sz="1200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B9D5B6F-D5BA-4E8D-DF9D-8EA8F4056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825051"/>
              </p:ext>
            </p:extLst>
          </p:nvPr>
        </p:nvGraphicFramePr>
        <p:xfrm>
          <a:off x="457200" y="1200150"/>
          <a:ext cx="8229600" cy="22555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60328526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178721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局限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说明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561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QEMU TCG 单核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绝对吞吐不可直接外推到真实硬件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92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SQPOLL 未实现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当前每次提交仍需 </a:t>
                      </a:r>
                      <a:r>
                        <a:rPr lang="zh-CN" sz="1600">
                          <a:latin typeface="Courier New" panose="02070309020205020404" pitchFamily="49" charset="0"/>
                        </a:rPr>
                        <a:t>io_uring_enter</a:t>
                      </a:r>
                      <a:endParaRPr lang="zh-C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004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部分高级语义缺失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IO_LINK、DRAIN、ASYNC_CANCEL、EXT_ARG 等未实现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68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部分微基准不够严谨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部分测试缺少完整延迟分布或正确性验证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44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FAST_POLL 是兼容声明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不等价于完整 Linux fast poll 内部机制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576798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00A38DD6-676A-4A9B-A2BE-20827849AC6A}"/>
              </a:ext>
            </a:extLst>
          </p:cNvPr>
          <p:cNvSpPr txBox="1"/>
          <p:nvPr/>
        </p:nvSpPr>
        <p:spPr>
          <a:xfrm>
            <a:off x="532229" y="3847137"/>
            <a:ext cx="8072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本项目最可靠的结论是功能正确性、ABI 兼容性、worker 调度结构和异步背压机制；绝对性能数字需要</a:t>
            </a:r>
            <a:r>
              <a:rPr lang="zh-CN" altLang="en-US" sz="1400" dirty="0"/>
              <a:t>多核环境以及</a:t>
            </a:r>
            <a:r>
              <a:rPr lang="zh-CN" altLang="zh-CN" sz="1400" dirty="0"/>
              <a:t>真实硬件进一步验证。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130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9691-916B-0BFF-DB1F-CF078C8E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649E94A-9817-8E4C-1E3C-77C4CB2B82A1}"/>
              </a:ext>
            </a:extLst>
          </p:cNvPr>
          <p:cNvGrpSpPr/>
          <p:nvPr/>
        </p:nvGrpSpPr>
        <p:grpSpPr>
          <a:xfrm>
            <a:off x="107504" y="0"/>
            <a:ext cx="2972693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C248A26-2884-0234-4DA0-40CD3C208A93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B5354A3B-8C66-F86C-9EF9-E911C142AB14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726FC55A-34C1-16F6-4D57-B667CBFE8481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A098EFE6-1F3A-188D-8E98-5280AE4144FB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92FF23BB-68BA-25E6-9378-C3950D5C342A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8A74BE87-D4C8-CFBF-927D-8D4ACA16B418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76FB403B-0E45-6C68-62B2-786483E5E3FA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E11251F-592D-A965-EE93-62B2092D2D27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dirty="0"/>
                <a:t>项目成果总结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970FA68-C271-FBE0-857A-0E91325F085B}"/>
              </a:ext>
            </a:extLst>
          </p:cNvPr>
          <p:cNvSpPr txBox="1"/>
          <p:nvPr/>
        </p:nvSpPr>
        <p:spPr>
          <a:xfrm>
            <a:off x="539552" y="1923678"/>
            <a:ext cx="81369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在 StarryOS 上实现了较完整的 io_uring 异步 I/O 子系统。 </a:t>
            </a:r>
            <a:endParaRPr lang="en-US" altLang="zh-CN" dirty="0"/>
          </a:p>
          <a:p>
            <a:r>
              <a:rPr lang="zh-CN" altLang="zh-CN" dirty="0"/>
              <a:t>支持 3 个核心 syscall、13 个 I/O opcode、7 个 register opcode。</a:t>
            </a:r>
            <a:endParaRPr lang="en-US" altLang="zh-CN" dirty="0"/>
          </a:p>
          <a:p>
            <a:r>
              <a:rPr lang="zh-CN" altLang="zh-CN" dirty="0"/>
              <a:t>构建了 SharedPages 零拷贝 ring、PinnedUserBuf、OpFuture 和 FileLike async trait。 </a:t>
            </a:r>
            <a:endParaRPr lang="en-US" altLang="zh-CN" dirty="0"/>
          </a:p>
          <a:p>
            <a:r>
              <a:rPr lang="zh-CN" altLang="zh-CN" dirty="0"/>
              <a:t>通过自测、tokio-rs io-uring-test 和真实 liburing </a:t>
            </a:r>
            <a:r>
              <a:rPr lang="zh-CN" altLang="en-US" dirty="0"/>
              <a:t>等</a:t>
            </a:r>
            <a:r>
              <a:rPr lang="zh-CN" altLang="zh-CN" dirty="0"/>
              <a:t>测试。 在网络并发实验中验证了 io_uring 的多路复用和异步背压优势。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5497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E3ED-C4AE-554A-90A9-CF5F7AB4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18921FC-CD3E-C764-8384-B6E219499C88}"/>
              </a:ext>
            </a:extLst>
          </p:cNvPr>
          <p:cNvGrpSpPr/>
          <p:nvPr/>
        </p:nvGrpSpPr>
        <p:grpSpPr>
          <a:xfrm>
            <a:off x="107504" y="0"/>
            <a:ext cx="2972693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8100B8E-373B-B7EE-FDEA-E77BF511049F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A1854E2B-A4CA-7990-39BF-C1AAC2ED1607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2242D5B2-C610-9304-03AC-1BBA17391EFE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50967FFB-7176-78DF-39C7-9EFDA5E5F24B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5040D0B7-8363-E484-5900-BD12F7F5CCD0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0248D156-2ECF-8D59-D679-BB5BE0905461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D20A807E-F3AB-A685-91B3-639D8A4FC76E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B9A3848-9E8B-0CD7-06CC-5A17971E3781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dirty="0"/>
                <a:t>个人技术收获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02A0D0A7-33C8-BBA7-DA29-2626130E499C}"/>
              </a:ext>
            </a:extLst>
          </p:cNvPr>
          <p:cNvSpPr txBox="1"/>
          <p:nvPr/>
        </p:nvSpPr>
        <p:spPr>
          <a:xfrm>
            <a:off x="778859" y="535479"/>
            <a:ext cx="5221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从训练营到项目实现的收获</a:t>
            </a:r>
            <a:endParaRPr lang="zh-CN" altLang="en-US" sz="1200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04A1FBD-65AC-EA30-4AD8-68419041882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51267"/>
          <a:ext cx="8229600" cy="32918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86289743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880761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收获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251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并发模型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理解进程、线程、协程在高并发 I/O 下的资源差异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280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异步机制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理解 Future、Waker、Executor 的完整闭环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06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内核工程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学会处理用户地址空间、fd 表、共享内存和 worker 上下文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520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性能分析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学会区分绝对性能、结构性指标和测试夹具问题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545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系统设计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学会通过分层设计降低复杂度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156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852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1ABB6-910E-353D-743E-C2173ADC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FC85E21-B2E7-E450-2A15-EE13BD621C9A}"/>
              </a:ext>
            </a:extLst>
          </p:cNvPr>
          <p:cNvGrpSpPr/>
          <p:nvPr/>
        </p:nvGrpSpPr>
        <p:grpSpPr>
          <a:xfrm>
            <a:off x="107504" y="0"/>
            <a:ext cx="2972693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0C95660-9F40-9A78-09DF-694BD4628C9B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861C37DC-344A-0F58-7066-7C23F0932A50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D3D2B6F7-AC53-9E42-C9D0-6E63D87C7784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9D7ECBB-64F7-229B-1A32-F6D6625276D3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7ABC42F4-4CEE-385F-28F6-5C649283388E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6AD77E43-BD88-B454-BFB3-4908C95A9DB4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C215AF40-AD81-BD8A-9157-2BEC0F20D8F4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E2344B2-E2A5-CCB9-C37E-67282EA6DEE1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后续工作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BC560BE-8A2E-FE71-EA37-3E5F0781412E}"/>
              </a:ext>
            </a:extLst>
          </p:cNvPr>
          <p:cNvSpPr txBox="1"/>
          <p:nvPr/>
        </p:nvSpPr>
        <p:spPr>
          <a:xfrm>
            <a:off x="778859" y="535479"/>
            <a:ext cx="5221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未来改进方向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1D52FD-FB77-BF4D-0AE1-91CF75854D2C}"/>
              </a:ext>
            </a:extLst>
          </p:cNvPr>
          <p:cNvSpPr txBox="1"/>
          <p:nvPr/>
        </p:nvSpPr>
        <p:spPr>
          <a:xfrm>
            <a:off x="778859" y="1347614"/>
            <a:ext cx="78255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zh-CN" dirty="0"/>
              <a:t>在真实 RISC-V 硬件上重新测试 syscall 成本、吞吐和延迟分布。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zh-CN" dirty="0"/>
              <a:t>实现 SQPOLL，探索多核环境下的零 syscall 提交。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zh-CN" dirty="0"/>
              <a:t>补齐 IO_LINK、DRAIN、ASYNC_CANCEL、ENTER_EXT_ARG 等高级语义。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zh-CN" dirty="0"/>
              <a:t>增强多 ring 并发提交测试，评估全局队列争用。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zh-CN" dirty="0"/>
              <a:t>引入更完整的 P95/P99 延迟、jitter 和 worker 调度开销分析。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8E2097-5274-EC7C-0108-F51D0B0D49AA}"/>
              </a:ext>
            </a:extLst>
          </p:cNvPr>
          <p:cNvSpPr txBox="1"/>
          <p:nvPr/>
        </p:nvSpPr>
        <p:spPr>
          <a:xfrm>
            <a:off x="778859" y="3714586"/>
            <a:ext cx="7825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本次训练营让我</a:t>
            </a:r>
            <a:r>
              <a:rPr lang="zh-CN" altLang="en-US" dirty="0"/>
              <a:t>收获不少！</a:t>
            </a:r>
          </a:p>
        </p:txBody>
      </p:sp>
    </p:spTree>
    <p:extLst>
      <p:ext uri="{BB962C8B-B14F-4D97-AF65-F5344CB8AC3E}">
        <p14:creationId xmlns:p14="http://schemas.microsoft.com/office/powerpoint/2010/main" val="3128015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简洁2018运营总结报告ppt模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c1lhhoj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1991</Words>
  <Application>Microsoft Office PowerPoint</Application>
  <PresentationFormat>全屏显示(16:9)</PresentationFormat>
  <Paragraphs>243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Noto Sans SC</vt:lpstr>
      <vt:lpstr>Arial</vt:lpstr>
      <vt:lpstr>Calibri</vt:lpstr>
      <vt:lpstr>Century Gothic</vt:lpstr>
      <vt:lpstr>Courier New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kikun</dc:creator>
  <cp:lastModifiedBy>永峰 魏</cp:lastModifiedBy>
  <cp:revision>5</cp:revision>
  <dcterms:created xsi:type="dcterms:W3CDTF">2018-11-28T05:41:00Z</dcterms:created>
  <dcterms:modified xsi:type="dcterms:W3CDTF">2026-06-21T09:40:28Z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1E58F0BEA99847DAA591B23F2567B35A</vt:lpwstr>
  </property>
</Properties>
</file>